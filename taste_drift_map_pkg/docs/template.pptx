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9" r:id="rId2"/>
    <p:sldId id="271" r:id="rId3"/>
    <p:sldId id="256" r:id="rId4"/>
    <p:sldId id="258" r:id="rId5"/>
    <p:sldId id="280" r:id="rId6"/>
    <p:sldId id="272" r:id="rId7"/>
    <p:sldId id="261" r:id="rId8"/>
    <p:sldId id="279" r:id="rId9"/>
    <p:sldId id="273" r:id="rId10"/>
    <p:sldId id="260" r:id="rId11"/>
    <p:sldId id="274" r:id="rId12"/>
    <p:sldId id="267" r:id="rId13"/>
    <p:sldId id="277" r:id="rId14"/>
    <p:sldId id="275" r:id="rId15"/>
    <p:sldId id="278" r:id="rId16"/>
    <p:sldId id="27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4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9E4CB-7647-41BF-842D-E5D03FFD4467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43A79B-1C95-4C8A-B33A-F2517B51B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807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43A79B-1C95-4C8A-B33A-F2517B51B2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95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A1F95A-EB7A-7B6A-B825-D5ABAC789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CD4681-AC6C-AB66-FAA4-C83BB95D4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3B5484-E9B5-6772-5DE1-47ECC473D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EC4335-B75E-FAAF-F71A-577F728ED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5BCE7D-F711-BE34-16CE-AB4A8424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21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ADFDD-BF9A-581F-0411-C5B0866EF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015607-D3A0-276A-C001-06150E130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473782-C025-C195-EE6A-B58C21CEA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1867C0-6428-5B4B-BC79-E73896667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0F13E3-799C-987D-FCAE-9F74EC67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90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EE567-D0C9-08EB-953C-14DC6A0F8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3064E7-1877-C699-1062-4A864D10A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090FDE-33AF-2B89-3C02-5F1C0AD4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792064-1FCA-F7A7-C6AA-564F2D50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38A16F-30C2-4B13-8AE1-815509EE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50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60DE7-58B0-6E53-B5E7-03B0B03B9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83C1A5-E1AC-C7CD-E9AB-27E39B83D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53437F-F280-C65A-699D-15ED9655E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93726F-81F3-7E85-C4E6-E241D5E3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4284F0-D125-5F8D-7622-582CBC27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853044-B2B6-68A7-B2DD-961BCC67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10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D2CF3-C7A8-28D5-D9E9-468346DB8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938F0A-DD3F-DE9F-86F2-50CB048F4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2D8D8F-3550-2464-DCCE-59A6E70D1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414DBD-04FC-D987-1F74-E658D3900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C5F960-84DB-D1B5-A95C-BCC7756E2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91CDB0-1105-9962-A045-FEEC64C6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C84BEF-2C86-3C93-2F6E-52733B915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B326CE-6A01-8505-DDB1-9A3EA7E76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427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2D7E7-93E7-DCC3-A4BD-A3CDA592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2AA164-F793-3526-BACE-90BFACE5E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98A285-C074-77FC-4E4D-7611C18F1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F8BD3F-694C-0D50-26EC-15DC1727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41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3226C3-EF42-3C91-ED86-A1F4E5B05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8DEB1C-1F73-52AC-4A94-8E428A4E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F28BD5-8FFE-AA8E-D433-3A913371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77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B7B411-BFE5-FFDE-C450-798F54CE1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08AC52-063B-8EBE-476C-3479DDE51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0E1C70-397B-7F8A-B318-035118364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36C6ED-3CE0-0819-C534-B6A946A58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23B73C-140E-E312-862F-B1DFBEC5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A942AA-7EA4-9AE2-7881-42679B8F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78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950CA-4F69-25AB-4787-C9D5C17CB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1229360-18BC-C66A-EF47-37E265594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417C99-648B-3DAF-932A-7A8F77D72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754D30-1DE3-1980-3756-16369D7D8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D6B6E-1F21-ABC0-259C-1DB846FBC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0C8743-086D-1C91-3E48-D46C1D0BC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30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DEA56-201A-0818-2F12-AE656B82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0A1421-E9D8-2C3E-F5D7-6EDA10D5F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D5EB5-34E9-6AA3-AA58-74DADFE49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22684-12CE-ED57-25F6-4747FA59C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C74068-62FE-55D8-1F00-491D1B4B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45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2EE9FC-4245-A35E-001C-5AAADF037A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343677-4861-F280-A11A-639551450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52C284-400A-552B-DB0F-4B5C2D56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397829-5627-D408-7E12-249ED711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BAA1CF-5410-2195-0E26-B407A77E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779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E7C269-2CEB-724A-23A5-EF2F3979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2FBEBF-F8B6-B0EC-DE4B-904BF1D62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F09ED6-693E-7177-B970-14DFF5744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8FF93-9A5A-481B-81BB-74294A87F32F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170D7-322F-5D62-0A29-6F44DAF4A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35352-E5E3-148B-0EAF-244E72C23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FAE30-AB84-454F-BFB4-4E7D428479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516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417320"/>
            <a:ext cx="7863840" cy="2026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US" sz="5200" b="1" i="0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Listen to the Long Now</a:t>
            </a:r>
            <a:endParaRPr sz="5200" b="1" i="0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0"/>
              </a:spcAft>
            </a:pPr>
            <a:r>
              <a:rPr lang="en-US" sz="2400" b="0" i="0" dirty="0">
                <a:solidFill>
                  <a:srgbClr val="C9D1DB"/>
                </a:solidFill>
                <a:latin typeface="Segoe UI"/>
              </a:rPr>
              <a:t>Chinese Chart – Listener Behavior Across Years</a:t>
            </a:r>
            <a:endParaRPr sz="2400" b="0" i="0" dirty="0">
              <a:solidFill>
                <a:srgbClr val="C9D1DB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088" y="5349240"/>
            <a:ext cx="7863840" cy="406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6B7280"/>
                </a:solidFill>
                <a:latin typeface="Segoe UI"/>
              </a:rPr>
              <a:t>Presented by  </a:t>
            </a:r>
            <a:r>
              <a:rPr lang="en-US" sz="1200" b="1" dirty="0">
                <a:solidFill>
                  <a:srgbClr val="FFFFFF"/>
                </a:solidFill>
                <a:latin typeface="Segoe UI"/>
              </a:rPr>
              <a:t>Jiang Chuyang   Liu Yibo</a:t>
            </a:r>
            <a:endParaRPr lang="en-US" sz="1200" b="0" dirty="0">
              <a:solidFill>
                <a:srgbClr val="6B7280"/>
              </a:solidFill>
              <a:latin typeface="Segoe UI"/>
            </a:endParaRPr>
          </a:p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6B7280"/>
                </a:solidFill>
                <a:latin typeface="Segoe UI"/>
              </a:rPr>
              <a:t>	 </a:t>
            </a:r>
            <a:r>
              <a:rPr sz="1200" b="1" dirty="0">
                <a:solidFill>
                  <a:srgbClr val="FFFFFF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7280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31A"/>
                </a:solidFill>
                <a:latin typeface="Segoe U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572768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1368" y="1844644"/>
            <a:ext cx="9509760" cy="242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rgbClr val="10131A"/>
                </a:solidFill>
                <a:latin typeface="Segoe UI"/>
              </a:rPr>
              <a:t>Project Background      </a:t>
            </a:r>
            <a:r>
              <a:rPr lang="en-US" sz="1500" dirty="0">
                <a:solidFill>
                  <a:srgbClr val="6B7280"/>
                </a:solidFill>
                <a:latin typeface="Segoe UI"/>
              </a:rPr>
              <a:t>What is it? Why is it important?</a:t>
            </a:r>
            <a:endParaRPr sz="150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2478024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478024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2749900"/>
            <a:ext cx="9509760" cy="242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rgbClr val="10131A"/>
                </a:solidFill>
                <a:latin typeface="Segoe UI"/>
              </a:rPr>
              <a:t>Method and Pipeline      </a:t>
            </a:r>
            <a:r>
              <a:rPr lang="en-US" sz="1500" dirty="0">
                <a:solidFill>
                  <a:srgbClr val="6B7280"/>
                </a:solidFill>
                <a:latin typeface="Segoe UI"/>
              </a:rPr>
              <a:t>How a mp3 file becomes a vector?</a:t>
            </a:r>
            <a:endParaRPr sz="150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3383280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3655156"/>
            <a:ext cx="9509760" cy="242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0131A"/>
                </a:solidFill>
                <a:latin typeface="Segoe UI"/>
              </a:rPr>
              <a:t>Data Analysis</a:t>
            </a:r>
            <a:r>
              <a:rPr sz="1500" b="0" dirty="0">
                <a:solidFill>
                  <a:srgbClr val="6B7280"/>
                </a:solidFill>
                <a:latin typeface="Segoe UI"/>
              </a:rPr>
              <a:t>     </a:t>
            </a:r>
            <a:r>
              <a:rPr lang="en-US" sz="1500" dirty="0">
                <a:solidFill>
                  <a:srgbClr val="6B7280"/>
                </a:solidFill>
                <a:latin typeface="Segoe UI"/>
              </a:rPr>
              <a:t>V</a:t>
            </a:r>
            <a:r>
              <a:rPr sz="1500" b="0" dirty="0">
                <a:solidFill>
                  <a:srgbClr val="6B7280"/>
                </a:solidFill>
                <a:latin typeface="Segoe UI"/>
              </a:rPr>
              <a:t>isual stories from the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88536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4288536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4288536"/>
            <a:ext cx="95097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0131A"/>
                </a:solidFill>
                <a:latin typeface="Segoe UI"/>
              </a:rPr>
              <a:t>Insights &amp; Limitations</a:t>
            </a:r>
            <a:r>
              <a:rPr sz="1500" b="0" dirty="0">
                <a:solidFill>
                  <a:srgbClr val="6B7280"/>
                </a:solidFill>
                <a:latin typeface="Segoe UI"/>
              </a:rPr>
              <a:t>     What we learned — and what we cannot claim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93792"/>
            <a:ext cx="11057839" cy="786384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5193792"/>
            <a:ext cx="91440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B954"/>
                </a:solidFill>
                <a:latin typeface="Segoe U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368" y="5465668"/>
            <a:ext cx="9509760" cy="242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0131A"/>
                </a:solidFill>
                <a:latin typeface="Segoe UI"/>
              </a:rPr>
              <a:t>Conclusion </a:t>
            </a:r>
            <a:r>
              <a:rPr lang="en-US" sz="1500" b="1" dirty="0">
                <a:solidFill>
                  <a:srgbClr val="10131A"/>
                </a:solidFill>
                <a:latin typeface="Segoe UI"/>
              </a:rPr>
              <a:t>    </a:t>
            </a:r>
            <a:r>
              <a:rPr sz="1500" b="0" dirty="0">
                <a:solidFill>
                  <a:srgbClr val="6B7280"/>
                </a:solidFill>
                <a:latin typeface="Segoe UI"/>
              </a:rPr>
              <a:t>Takeaways and next steps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76127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Part1</a:t>
            </a:r>
          </a:p>
          <a:p>
            <a:pPr>
              <a:spcAft>
                <a:spcPts val="200"/>
              </a:spcAft>
            </a:pPr>
            <a:r>
              <a:rPr lang="en-US" altLang="zh-CN" sz="5200" b="1" dirty="0">
                <a:solidFill>
                  <a:srgbClr val="FFFFFF"/>
                </a:solidFill>
                <a:latin typeface="Segoe UI"/>
              </a:rPr>
              <a:t>Project Background</a:t>
            </a:r>
          </a:p>
          <a:p>
            <a:pPr>
              <a:spcAft>
                <a:spcPts val="200"/>
              </a:spcAft>
            </a:pPr>
            <a:r>
              <a:rPr lang="en-US" altLang="zh-CN" sz="2400" dirty="0">
                <a:solidFill>
                  <a:srgbClr val="C9D1DB"/>
                </a:solidFill>
                <a:latin typeface="Segoe UI"/>
              </a:rPr>
              <a:t>What is it? Why is it important?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 i="0" dirty="0">
                <a:solidFill>
                  <a:srgbClr val="6B7280"/>
                </a:solidFill>
                <a:latin typeface="Segoe UI"/>
              </a:rPr>
              <a:t>Background</a:t>
            </a:r>
            <a:endParaRPr sz="1150" b="1" i="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436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i="0" dirty="0">
                <a:solidFill>
                  <a:srgbClr val="10131A"/>
                </a:solidFill>
                <a:latin typeface="Segoe UI"/>
              </a:rPr>
              <a:t>Motivation &amp; Why it matters?</a:t>
            </a:r>
            <a:endParaRPr sz="2700" b="1" i="0" dirty="0">
              <a:solidFill>
                <a:srgbClr val="10131A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b="1" i="0" dirty="0">
                <a:solidFill>
                  <a:srgbClr val="6B7280"/>
                </a:solidFill>
                <a:latin typeface="Segoe UI"/>
              </a:rPr>
              <a:t>4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7044-CAF1-EE34-98DA-BBA35C3A0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009422-7CEC-449F-5CD6-8A8E4F8B4046}"/>
              </a:ext>
            </a:extLst>
          </p:cNvPr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56DD01-EE78-82EF-36DA-A170E5A48809}"/>
              </a:ext>
            </a:extLst>
          </p:cNvPr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 i="0" dirty="0">
                <a:solidFill>
                  <a:srgbClr val="6B7280"/>
                </a:solidFill>
                <a:latin typeface="Segoe UI"/>
              </a:rPr>
              <a:t>Background</a:t>
            </a:r>
            <a:endParaRPr sz="1150" b="1" i="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D765C6-A409-80AA-6E3B-5400698EB898}"/>
              </a:ext>
            </a:extLst>
          </p:cNvPr>
          <p:cNvSpPr txBox="1"/>
          <p:nvPr/>
        </p:nvSpPr>
        <p:spPr>
          <a:xfrm>
            <a:off x="566928" y="804672"/>
            <a:ext cx="11057839" cy="436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dirty="0">
                <a:solidFill>
                  <a:srgbClr val="10131A"/>
                </a:solidFill>
                <a:latin typeface="Segoe UI"/>
              </a:rPr>
              <a:t>Information Resources</a:t>
            </a:r>
            <a:endParaRPr sz="2700" b="1" i="0" dirty="0">
              <a:solidFill>
                <a:srgbClr val="10131A"/>
              </a:solidFill>
              <a:latin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3A20BB-83E9-52CC-A739-BA6DFDA643EC}"/>
              </a:ext>
            </a:extLst>
          </p:cNvPr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8FAFE6-59C9-A717-C06D-2E852430F3F3}"/>
              </a:ext>
            </a:extLst>
          </p:cNvPr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b="1" i="0" dirty="0">
                <a:solidFill>
                  <a:srgbClr val="6B7280"/>
                </a:solidFill>
                <a:latin typeface="Segoe UI"/>
              </a:rPr>
              <a:t>4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5374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95F3-0F03-0D69-DE1B-EC4B34F4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F36DF-C36A-D745-0E0D-CC4CE4D728E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EE79AFA-A931-31D3-C682-A63532A65843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1E3A464-E257-529C-EDFE-07F6BDEC3F47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DF8CA6-30E9-A564-5979-6440B5D22A8D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8F21F-E6A4-7B6B-BDBB-CB73D08777C1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AD993-E05D-812C-4D6D-005EA8C4971D}"/>
              </a:ext>
            </a:extLst>
          </p:cNvPr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Part2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Method and Pipeline</a:t>
            </a:r>
          </a:p>
          <a:p>
            <a:pPr>
              <a:spcAft>
                <a:spcPts val="200"/>
              </a:spcAft>
            </a:pPr>
            <a:r>
              <a:rPr lang="en-US" altLang="zh-CN" sz="2400" dirty="0">
                <a:solidFill>
                  <a:srgbClr val="C9D1DB"/>
                </a:solidFill>
                <a:latin typeface="Segoe UI"/>
              </a:rPr>
              <a:t>How a mp3 file becomes a vector?</a:t>
            </a:r>
            <a:endParaRPr sz="2400" dirty="0">
              <a:solidFill>
                <a:srgbClr val="C9D1DB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19119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 i="0" dirty="0">
                <a:solidFill>
                  <a:srgbClr val="6B7280"/>
                </a:solidFill>
                <a:latin typeface="Segoe UI"/>
              </a:rPr>
              <a:t>Method and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10131A"/>
                </a:solidFill>
                <a:latin typeface="Segoe UI"/>
              </a:rPr>
              <a:t>The Analytical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24912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724912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724912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621024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3621024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621024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17136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66928" y="4517136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4517136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413248"/>
            <a:ext cx="11057839" cy="804672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6928" y="5413248"/>
            <a:ext cx="804672" cy="804672"/>
          </a:xfrm>
          <a:prstGeom prst="roundRect">
            <a:avLst>
              <a:gd name="adj" fmla="val 9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5413248"/>
            <a:ext cx="804672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076127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7B3B2-9FE1-38A2-22FA-06A919D1F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05FF92-93B9-5D95-3209-CC89D0899FAD}"/>
              </a:ext>
            </a:extLst>
          </p:cNvPr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5BE339-759C-B10B-6403-E546905CCA5B}"/>
              </a:ext>
            </a:extLst>
          </p:cNvPr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 i="0" dirty="0">
                <a:solidFill>
                  <a:srgbClr val="6B7280"/>
                </a:solidFill>
                <a:latin typeface="Segoe UI"/>
              </a:rPr>
              <a:t>Method and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D8221-FC49-3A50-2BF0-38BD491892ED}"/>
              </a:ext>
            </a:extLst>
          </p:cNvPr>
          <p:cNvSpPr txBox="1"/>
          <p:nvPr/>
        </p:nvSpPr>
        <p:spPr>
          <a:xfrm>
            <a:off x="566928" y="804672"/>
            <a:ext cx="11057839" cy="436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i="0" dirty="0">
                <a:solidFill>
                  <a:srgbClr val="10131A"/>
                </a:solidFill>
                <a:latin typeface="Segoe UI"/>
              </a:rPr>
              <a:t>Realization via Scripts</a:t>
            </a:r>
            <a:endParaRPr sz="2700" b="1" i="0" dirty="0">
              <a:solidFill>
                <a:srgbClr val="10131A"/>
              </a:solidFill>
              <a:latin typeface="Segoe U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735FBC-2446-4394-CF1A-262C3700409B}"/>
              </a:ext>
            </a:extLst>
          </p:cNvPr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b="1" i="0" dirty="0">
                <a:solidFill>
                  <a:srgbClr val="6B7280"/>
                </a:solidFill>
                <a:latin typeface="Segoe UI"/>
              </a:rPr>
              <a:t>7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9590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2DB83-32D2-3D5F-0F8D-314AC5061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29450F-46E1-7286-56AE-02349FB669D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7874CB9-A06A-CC58-4CA5-7FAC7A4D73A6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947778-376D-DB35-844F-68A2D2331957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8B8734-FEDA-9AB8-DA07-C5847E02E272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122474-0777-8D9F-2773-C20436B6ED94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AE381F-12AD-6C8A-BAFA-9FB010301E51}"/>
              </a:ext>
            </a:extLst>
          </p:cNvPr>
          <p:cNvSpPr txBox="1"/>
          <p:nvPr/>
        </p:nvSpPr>
        <p:spPr>
          <a:xfrm>
            <a:off x="704087" y="1417320"/>
            <a:ext cx="8561527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Part3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Data Analysis</a:t>
            </a:r>
          </a:p>
          <a:p>
            <a:pPr>
              <a:spcAft>
                <a:spcPts val="200"/>
              </a:spcAft>
            </a:pPr>
            <a:r>
              <a:rPr lang="en-US" altLang="zh-CN" sz="2400" dirty="0">
                <a:solidFill>
                  <a:srgbClr val="C9D1DB"/>
                </a:solidFill>
                <a:latin typeface="Segoe UI"/>
              </a:rPr>
              <a:t>Visual stories from the data.</a:t>
            </a:r>
            <a:endParaRPr sz="2400" dirty="0">
              <a:solidFill>
                <a:srgbClr val="C9D1DB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17683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186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1" i="0" dirty="0">
                <a:solidFill>
                  <a:srgbClr val="6B7280"/>
                </a:solidFill>
                <a:latin typeface="Segoe U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31A"/>
                </a:solidFill>
                <a:latin typeface="Segoe UI"/>
              </a:rPr>
              <a:t>The Dataset at a Glance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b="1" i="0" dirty="0">
                <a:solidFill>
                  <a:srgbClr val="6B7280"/>
                </a:solidFill>
                <a:latin typeface="Segoe UI"/>
              </a:rPr>
              <a:t>9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5F5E-11F0-2FB0-B44A-30F698264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2F92B0-24C5-1D31-5128-72C40FCAB4D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AA3E0F-FAA2-B661-CE0E-5B66EF41831F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FFA6DB-DF49-BDDC-1F55-2C05EF7FC64A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D56235-C4D5-8394-C33B-B4A13C32EAEE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EAA3C2-3AB1-90ED-5C9D-1065EAC06702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6E893-00C6-4E5B-A161-1A2ED24587EC}"/>
              </a:ext>
            </a:extLst>
          </p:cNvPr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Part4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Insights &amp; Limitations</a:t>
            </a:r>
          </a:p>
          <a:p>
            <a:pPr>
              <a:spcAft>
                <a:spcPts val="200"/>
              </a:spcAft>
            </a:pPr>
            <a:r>
              <a:rPr lang="en-US" altLang="zh-CN" sz="2400" dirty="0">
                <a:solidFill>
                  <a:srgbClr val="C9D1DB"/>
                </a:solidFill>
                <a:latin typeface="Segoe UI"/>
              </a:rPr>
              <a:t>What we learned — and what we cannot claim.</a:t>
            </a:r>
            <a:endParaRPr sz="2400" dirty="0">
              <a:solidFill>
                <a:srgbClr val="C9D1DB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59370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7280"/>
                </a:solidFill>
                <a:latin typeface="Segoe UI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31A"/>
                </a:solidFill>
                <a:latin typeface="Segoe UI"/>
              </a:rPr>
              <a:t>Key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57839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822960" cy="1051560"/>
          </a:xfrm>
          <a:prstGeom prst="roundRect">
            <a:avLst>
              <a:gd name="adj" fmla="val 8000"/>
            </a:avLst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70632"/>
            <a:ext cx="11057839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2770632"/>
            <a:ext cx="822960" cy="1051560"/>
          </a:xfrm>
          <a:prstGeom prst="roundRect">
            <a:avLst>
              <a:gd name="adj" fmla="val 8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770632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41064"/>
            <a:ext cx="11057839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3941064"/>
            <a:ext cx="822960" cy="1051560"/>
          </a:xfrm>
          <a:prstGeom prst="roundRect">
            <a:avLst>
              <a:gd name="adj" fmla="val 8000"/>
            </a:avLst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941064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11496"/>
            <a:ext cx="11057839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66928" y="5111496"/>
            <a:ext cx="822960" cy="105156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111496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6B7280"/>
                </a:solidFill>
                <a:latin typeface="Segoe UI"/>
              </a:rPr>
              <a:t>1</a:t>
            </a:r>
            <a:r>
              <a:rPr lang="en-US" sz="950" b="1" i="0" dirty="0">
                <a:solidFill>
                  <a:srgbClr val="6B7280"/>
                </a:solidFill>
                <a:latin typeface="Segoe UI"/>
              </a:rPr>
              <a:t>1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dirty="0">
                <a:solidFill>
                  <a:srgbClr val="6B7280"/>
                </a:solidFill>
                <a:latin typeface="Segoe UI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10131A"/>
                </a:solidFill>
                <a:latin typeface="Segoe UI"/>
              </a:rPr>
              <a:t>Limitations &amp; Ethical Notes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11057839" cy="1005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64008" cy="10058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2715768"/>
            <a:ext cx="11057839" cy="1005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715768"/>
            <a:ext cx="64008" cy="10058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3831336"/>
            <a:ext cx="11057839" cy="1005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3831336"/>
            <a:ext cx="64008" cy="10058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4946904"/>
            <a:ext cx="11057839" cy="1005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946904"/>
            <a:ext cx="64008" cy="10058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6382512"/>
            <a:ext cx="11057839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076127" y="6446520"/>
            <a:ext cx="548640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6B7280"/>
                </a:solidFill>
                <a:latin typeface="Segoe UI"/>
              </a:rPr>
              <a:t>1</a:t>
            </a:r>
            <a:r>
              <a:rPr lang="en-US" sz="950" b="1" i="0" dirty="0">
                <a:solidFill>
                  <a:srgbClr val="6B7280"/>
                </a:solidFill>
                <a:latin typeface="Segoe UI"/>
              </a:rPr>
              <a:t>2</a:t>
            </a:r>
            <a:endParaRPr sz="950" b="1" i="0" dirty="0">
              <a:solidFill>
                <a:srgbClr val="6B728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60D6-0F4C-E4AA-7313-9E8FED687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32C6C0-76D9-1EF6-FE9A-F41077A79A3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F5099CE-8ADA-E697-377F-AAF5E6EDF96E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52B0E1-3333-5116-51F4-F805EDFA3EF1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939B5D-5EBD-08EA-2666-05620FE2A02E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8363C-2F22-12EB-D92F-8F45563C8B78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65DF7-F116-E98A-DE1B-CF9CB28C82B0}"/>
              </a:ext>
            </a:extLst>
          </p:cNvPr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Part5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i="0" dirty="0">
                <a:solidFill>
                  <a:srgbClr val="FFFFFF"/>
                </a:solidFill>
                <a:latin typeface="Segoe UI"/>
              </a:rPr>
              <a:t>Conclusion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400" dirty="0">
                <a:solidFill>
                  <a:srgbClr val="C9D1DB"/>
                </a:solidFill>
                <a:latin typeface="Segoe UI"/>
              </a:rPr>
              <a:t>Takeaways</a:t>
            </a:r>
            <a:endParaRPr sz="2400" dirty="0">
              <a:solidFill>
                <a:srgbClr val="C9D1DB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54412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20624"/>
            <a:ext cx="384048" cy="685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7280"/>
                </a:solidFill>
                <a:latin typeface="Segoe U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31A"/>
                </a:solidFill>
                <a:latin typeface="Segoe UI"/>
              </a:rPr>
              <a:t>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46520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076127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6B728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0FA9-6EDE-4355-E314-2C4112E5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07318E-5D40-C702-D2E9-954E8D72A0A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452FF05-EB2A-C732-4823-FC9AB606B0AC}"/>
              </a:ext>
            </a:extLst>
          </p:cNvPr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F0B43C6-F9F8-E907-1CE3-A6195BBC365D}"/>
              </a:ext>
            </a:extLst>
          </p:cNvPr>
          <p:cNvSpPr/>
          <p:nvPr/>
        </p:nvSpPr>
        <p:spPr>
          <a:xfrm>
            <a:off x="10881360" y="3108960"/>
            <a:ext cx="2926080" cy="2926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5D17C4-E595-1272-D8D5-93AF33CD9C52}"/>
              </a:ext>
            </a:extLst>
          </p:cNvPr>
          <p:cNvSpPr/>
          <p:nvPr/>
        </p:nvSpPr>
        <p:spPr>
          <a:xfrm>
            <a:off x="8869680" y="5029200"/>
            <a:ext cx="1828800" cy="1828800"/>
          </a:xfrm>
          <a:prstGeom prst="ellipse">
            <a:avLst/>
          </a:prstGeom>
          <a:solidFill>
            <a:srgbClr val="22B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D6E0DA-ED93-135F-02A9-06F500EB2134}"/>
              </a:ext>
            </a:extLst>
          </p:cNvPr>
          <p:cNvSpPr/>
          <p:nvPr/>
        </p:nvSpPr>
        <p:spPr>
          <a:xfrm>
            <a:off x="0" y="0"/>
            <a:ext cx="8778240" cy="6858000"/>
          </a:xfrm>
          <a:prstGeom prst="rect">
            <a:avLst/>
          </a:prstGeom>
          <a:solidFill>
            <a:srgbClr val="10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B708F8-365A-4A45-214A-A439141560B0}"/>
              </a:ext>
            </a:extLst>
          </p:cNvPr>
          <p:cNvSpPr txBox="1"/>
          <p:nvPr/>
        </p:nvSpPr>
        <p:spPr>
          <a:xfrm>
            <a:off x="704088" y="1417320"/>
            <a:ext cx="7863840" cy="2481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1300" b="1" i="0" dirty="0">
                <a:solidFill>
                  <a:srgbClr val="1DB954"/>
                </a:solidFill>
                <a:latin typeface="Segoe UI"/>
              </a:rPr>
              <a:t> </a:t>
            </a:r>
            <a:endParaRPr sz="1300" b="1" i="0" dirty="0">
              <a:solidFill>
                <a:srgbClr val="1DB954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endParaRPr lang="en-US" sz="5200" b="1" i="0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5200" b="1" dirty="0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2400" dirty="0">
                <a:solidFill>
                  <a:srgbClr val="C9D1DB"/>
                </a:solidFill>
                <a:latin typeface="Segoe UI"/>
              </a:rPr>
              <a:t>Have a nice day with your music player</a:t>
            </a:r>
          </a:p>
        </p:txBody>
      </p:sp>
    </p:spTree>
    <p:extLst>
      <p:ext uri="{BB962C8B-B14F-4D97-AF65-F5344CB8AC3E}">
        <p14:creationId xmlns:p14="http://schemas.microsoft.com/office/powerpoint/2010/main" val="2038281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202</Words>
  <Application>Microsoft Office PowerPoint</Application>
  <PresentationFormat>宽屏</PresentationFormat>
  <Paragraphs>76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Arial</vt:lpstr>
      <vt:lpstr>Segoe UI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艺博 刘</dc:creator>
  <cp:lastModifiedBy>u3658970@connect.hku.hk</cp:lastModifiedBy>
  <cp:revision>5</cp:revision>
  <dcterms:created xsi:type="dcterms:W3CDTF">2026-10-05T15:23:34Z</dcterms:created>
  <dcterms:modified xsi:type="dcterms:W3CDTF">2026-10-06T06:52:34Z</dcterms:modified>
</cp:coreProperties>
</file>