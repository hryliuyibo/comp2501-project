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69" r:id="rId2"/>
    <p:sldId id="271" r:id="rId3"/>
    <p:sldId id="256" r:id="rId4"/>
    <p:sldId id="258" r:id="rId5"/>
    <p:sldId id="280" r:id="rId6"/>
    <p:sldId id="293" r:id="rId7"/>
    <p:sldId id="294" r:id="rId8"/>
    <p:sldId id="272" r:id="rId9"/>
    <p:sldId id="261" r:id="rId10"/>
    <p:sldId id="279" r:id="rId11"/>
    <p:sldId id="295" r:id="rId12"/>
    <p:sldId id="282" r:id="rId13"/>
    <p:sldId id="283" r:id="rId14"/>
    <p:sldId id="284" r:id="rId15"/>
    <p:sldId id="285" r:id="rId16"/>
    <p:sldId id="286" r:id="rId17"/>
    <p:sldId id="273" r:id="rId18"/>
    <p:sldId id="260" r:id="rId19"/>
    <p:sldId id="296" r:id="rId20"/>
    <p:sldId id="297" r:id="rId21"/>
    <p:sldId id="298" r:id="rId22"/>
    <p:sldId id="299" r:id="rId23"/>
    <p:sldId id="287" r:id="rId24"/>
    <p:sldId id="288" r:id="rId25"/>
    <p:sldId id="289" r:id="rId26"/>
    <p:sldId id="290" r:id="rId27"/>
    <p:sldId id="274" r:id="rId28"/>
    <p:sldId id="267" r:id="rId29"/>
    <p:sldId id="291" r:id="rId30"/>
    <p:sldId id="275" r:id="rId31"/>
    <p:sldId id="300" r:id="rId32"/>
    <p:sldId id="301" r:id="rId33"/>
    <p:sldId id="276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9E4CB-7647-41BF-842D-E5D03FFD4467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3A79B-1C95-4C8A-B33A-F2517B51B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0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3A79B-1C95-4C8A-B33A-F2517B51B2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95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1F95A-EB7A-7B6A-B825-D5ABAC789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CD4681-AC6C-AB66-FAA4-C83BB95D4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3B5484-E9B5-6772-5DE1-47ECC473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C4335-B75E-FAAF-F71A-577F728E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BCE7D-F711-BE34-16CE-AB4A8424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1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ADFDD-BF9A-581F-0411-C5B0866E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15607-D3A0-276A-C001-06150E13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473782-C025-C195-EE6A-B58C21CE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867C0-6428-5B4B-BC79-E7389666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F13E3-799C-987D-FCAE-9F74EC67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0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EE567-D0C9-08EB-953C-14DC6A0F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3064E7-1877-C699-1062-4A864D10A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90FDE-33AF-2B89-3C02-5F1C0AD4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92064-1FCA-F7A7-C6AA-564F2D50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8A16F-30C2-4B13-8AE1-815509EE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0DE7-58B0-6E53-B5E7-03B0B03B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3C1A5-E1AC-C7CD-E9AB-27E39B83D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53437F-F280-C65A-699D-15ED9655E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93726F-81F3-7E85-C4E6-E241D5E3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284F0-D125-5F8D-7622-582CBC27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53044-B2B6-68A7-B2DD-961BCC67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10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D2CF3-C7A8-28D5-D9E9-468346DB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38F0A-DD3F-DE9F-86F2-50CB048F4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2D8D8F-3550-2464-DCCE-59A6E70D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14DBD-04FC-D987-1F74-E658D3900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5F960-84DB-D1B5-A95C-BCC7756E2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91CDB0-1105-9962-A045-FEEC64C6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C84BEF-2C86-3C93-2F6E-52733B91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B326CE-6A01-8505-DDB1-9A3EA7E7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2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2D7E7-93E7-DCC3-A4BD-A3CDA5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2AA164-F793-3526-BACE-90BFACE5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98A285-C074-77FC-4E4D-7611C18F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F8BD3F-694C-0D50-26EC-15DC1727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1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3226C3-EF42-3C91-ED86-A1F4E5B0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8DEB1C-1F73-52AC-4A94-8E428A4E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F28BD5-8FFE-AA8E-D433-3A913371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7B411-BFE5-FFDE-C450-798F54CE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8AC52-063B-8EBE-476C-3479DDE5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0E1C70-397B-7F8A-B318-035118364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6C6ED-3CE0-0819-C534-B6A946A5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23B73C-140E-E312-862F-B1DFBEC5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942AA-7EA4-9AE2-7881-42679B8F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8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950CA-4F69-25AB-4787-C9D5C17C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229360-18BC-C66A-EF47-37E265594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417C99-648B-3DAF-932A-7A8F77D72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54D30-1DE3-1980-3756-16369D7D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D6B6E-1F21-ABC0-259C-1DB846FBC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C8743-086D-1C91-3E48-D46C1D0B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DEA56-201A-0818-2F12-AE656B82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0A1421-E9D8-2C3E-F5D7-6EDA10D5F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5EB5-34E9-6AA3-AA58-74DADFE4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22684-12CE-ED57-25F6-4747FA59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C74068-62FE-55D8-1F00-491D1B4B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45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2EE9FC-4245-A35E-001C-5AAADF037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3677-4861-F280-A11A-639551450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2C284-400A-552B-DB0F-4B5C2D56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97829-5627-D408-7E12-249ED711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BAA1CF-5410-2195-0E26-B407A77E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77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E7C269-2CEB-724A-23A5-EF2F3979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FBEBF-F8B6-B0EC-DE4B-904BF1D6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09ED6-693E-7177-B970-14DFF5744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170D7-322F-5D62-0A29-6F44DAF4A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35352-E5E3-148B-0EAF-244E72C23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51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7863840" cy="2026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Listen to the Long Now</a:t>
            </a:r>
            <a:endParaRPr lang="en-US"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9D1DB"/>
                </a:solidFill>
                <a:latin typeface="Segoe UI"/>
              </a:rPr>
              <a:t>Chinese Chart – Listener Behaviour Across Years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Seven years of chart metadata  ·  audio embeddings of 374 charted songs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349240"/>
            <a:ext cx="7863840" cy="406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Presented by  </a:t>
            </a:r>
            <a:r>
              <a:rPr sz="1200" b="1">
                <a:solidFill>
                  <a:srgbClr val="FFFFFF"/>
                </a:solidFill>
                <a:latin typeface="Segoe UI"/>
              </a:rPr>
              <a:t>Jiang Chuyang (3036589703)  ·  Liu Yibo (3036589636)</a:t>
            </a:r>
            <a:endParaRPr lang="en-US" sz="1200" b="0" dirty="0">
              <a:solidFill>
                <a:srgbClr val="6B7280"/>
              </a:solidFill>
              <a:latin typeface="Segoe UI"/>
            </a:endParaRPr>
          </a:p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HKU COMP2501 · Section 1SH   ·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572768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844644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31A"/>
                </a:solidFill>
                <a:latin typeface="Segoe UI"/>
              </a:rPr>
              <a:t>Project Background</a:t>
            </a:r>
            <a:r>
              <a:rPr sz="1500" b="0">
                <a:solidFill>
                  <a:srgbClr val="6B7280"/>
                </a:solidFill>
                <a:latin typeface="Segoe UI"/>
              </a:rPr>
              <a:t>      The story, the questions, why it matters, prior work</a:t>
            </a:r>
            <a:endParaRPr sz="15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478024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478024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749900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31A"/>
                </a:solidFill>
                <a:latin typeface="Segoe UI"/>
              </a:rPr>
              <a:t>Method and Pipeline</a:t>
            </a:r>
            <a:r>
              <a:rPr sz="1500" b="0">
                <a:solidFill>
                  <a:srgbClr val="6B7280"/>
                </a:solidFill>
                <a:latin typeface="Segoe UI"/>
              </a:rPr>
              <a:t>      From chart scrapes to CLAP audio vectors</a:t>
            </a:r>
            <a:endParaRPr sz="15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383280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3655156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31A"/>
                </a:solidFill>
                <a:latin typeface="Segoe UI"/>
              </a:rPr>
              <a:t>Data Analysis</a:t>
            </a:r>
            <a:r>
              <a:rPr sz="1500" b="0">
                <a:solidFill>
                  <a:srgbClr val="6B7280"/>
                </a:solidFill>
                <a:latin typeface="Segoe UI"/>
              </a:rPr>
              <a:t>      Changepoints, genre drift, cross-region — and the taste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88536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288536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288536"/>
            <a:ext cx="9509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31A"/>
                </a:solidFill>
                <a:latin typeface="Segoe UI"/>
              </a:rPr>
              <a:t>Insights &amp; Limitations</a:t>
            </a:r>
            <a:r>
              <a:rPr sz="1500" b="0">
                <a:solidFill>
                  <a:srgbClr val="6B7280"/>
                </a:solidFill>
                <a:latin typeface="Segoe UI"/>
              </a:rPr>
              <a:t>      What we learned — and what we cannot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93792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193792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5465668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31A"/>
                </a:solidFill>
                <a:latin typeface="Segoe UI"/>
              </a:rPr>
              <a:t>Conclusion</a:t>
            </a:r>
            <a:r>
              <a:rPr sz="1500" b="0">
                <a:solidFill>
                  <a:srgbClr val="6B7280"/>
                </a:solidFill>
                <a:latin typeface="Segoe UI"/>
              </a:rPr>
              <a:t>      Answers, future works, references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Part1</a:t>
            </a:r>
          </a:p>
          <a:p>
            <a:pPr>
              <a:spcAft>
                <a:spcPts val="200"/>
              </a:spcAft>
            </a:pPr>
            <a:r>
              <a:rPr lang="en-US" altLang="zh-CN" sz="5200" b="1" dirty="0">
                <a:solidFill>
                  <a:srgbClr val="FFFFFF"/>
                </a:solidFill>
                <a:latin typeface="Segoe UI"/>
              </a:rPr>
              <a:t>Project Background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What is it? Why is it important?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Segoe UI"/>
              </a:rPr>
              <a:t>PROJECT BACKGROUND</a:t>
            </a:r>
            <a:endParaRPr sz="11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131A"/>
                </a:solidFill>
                <a:latin typeface="Segoe UI"/>
              </a:rPr>
              <a:t>The story: 2018–2024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4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1481328"/>
            <a:ext cx="11055096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1481328"/>
            <a:ext cx="64008" cy="82296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1554480"/>
            <a:ext cx="10579607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0131A"/>
                </a:solidFill>
                <a:latin typeface="Segoe UI"/>
              </a:rPr>
              <a:t>Between 2018 and 2024, did Chinese mainstream-music chart-listener behaviour drift in measurable ways?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487168"/>
            <a:ext cx="3502152" cy="2011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2487168"/>
            <a:ext cx="3502152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2670048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2B8D8"/>
                </a:solidFill>
                <a:latin typeface="Segoe UI"/>
              </a:rPr>
              <a:t>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127248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Douyin takeover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456432"/>
            <a:ext cx="3099816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Short-video feeds become a hit-making machine; QQ launches the Douyin Hit chart (topId 60) as Douyin reaches ~400M DAU.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487168"/>
            <a:ext cx="3502152" cy="2011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487168"/>
            <a:ext cx="3502152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2670048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6B6B"/>
                </a:solidFill>
                <a:latin typeface="Segoe UI"/>
              </a:rPr>
              <a:t>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127248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COVID-19 stay-at-home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3456432"/>
            <a:ext cx="3099816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Nationwide lockdown (Jan–Apr); TikTok passes 2B downloads. Chart activity contracts, then surges after the lockdown.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2487168"/>
            <a:ext cx="3502152" cy="2011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19872" y="2487168"/>
            <a:ext cx="3502152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2670048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7C5CFF"/>
                </a:solidFill>
                <a:latin typeface="Segoe UI"/>
              </a:rPr>
              <a:t>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27248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Ecosystem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56432"/>
            <a:ext cx="3099816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QQ launches the Guofeng Hot Songs chart (topId 65); post-COVID, platform and genre structures reorganise.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09160"/>
            <a:ext cx="11055096" cy="12344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709160"/>
            <a:ext cx="64008" cy="123444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4782312"/>
            <a:ext cx="10579607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Two lenses, one question.  </a:t>
            </a:r>
            <a:r>
              <a:rPr sz="1150" b="0">
                <a:solidFill>
                  <a:srgbClr val="6B7280"/>
                </a:solidFill>
                <a:latin typeface="Segoe UI"/>
              </a:rPr>
              <a:t>Chart metadata — rotation speed, weekly unique songs, cross-chart correlation.  Audio embeddings — what the picked songs actually sound like.  Can we find statistically significant changepoints, and do they line up with these three events?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7044-CAF1-EE34-98DA-BBA35C3A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009422-7CEC-449F-5CD6-8A8E4F8B4046}"/>
              </a:ext>
            </a:extLst>
          </p:cNvPr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6DD01-EE78-82EF-36DA-A170E5A48809}"/>
              </a:ext>
            </a:extLst>
          </p:cNvPr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Segoe UI"/>
              </a:rPr>
              <a:t>PROJECT BACKGROUND</a:t>
            </a:r>
            <a:endParaRPr sz="11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765C6-A409-80AA-6E3B-5400698EB898}"/>
              </a:ext>
            </a:extLst>
          </p:cNvPr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131A"/>
                </a:solidFill>
                <a:latin typeface="Segoe UI"/>
              </a:rPr>
              <a:t>Data science questions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A20BB-83E9-52CC-A739-BA6DFDA643EC}"/>
              </a:ext>
            </a:extLst>
          </p:cNvPr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FAFE6-59C9-A717-C06D-2E852430F3F3}"/>
              </a:ext>
            </a:extLst>
          </p:cNvPr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5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1554480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1554480"/>
            <a:ext cx="822960" cy="129844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572768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1682495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Regime shifts in QQ chart </a:t>
            </a:r>
            <a:r>
              <a:rPr sz="1400" b="1" dirty="0" err="1">
                <a:solidFill>
                  <a:srgbClr val="10131A"/>
                </a:solidFill>
                <a:latin typeface="Segoe UI"/>
              </a:rPr>
              <a:t>behaviour</a:t>
            </a:r>
            <a:endParaRPr sz="1400" b="1" dirty="0">
              <a:solidFill>
                <a:srgbClr val="10131A"/>
              </a:solidFill>
              <a:latin typeface="Segoe UI"/>
            </a:endParaRP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Across 2018–2024, do QQ Music's seven public weekly </a:t>
            </a:r>
            <a:r>
              <a:rPr sz="1050" b="0" dirty="0" err="1">
                <a:solidFill>
                  <a:srgbClr val="6B7280"/>
                </a:solidFill>
                <a:latin typeface="Segoe UI"/>
              </a:rPr>
              <a:t>toplists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 (~137,000 song-week rows) show statistically significant regime shifts — rotation speed, weekly unique-song count, cross-chart correlation — and which years mark them?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90088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2990088"/>
            <a:ext cx="822960" cy="129844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008376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118104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Platform-conditional or market-wide?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On the same day, do catalogue-freshness and star-concentration profiles of QQ, NetEase, Apple Music CN and Apple Music US diverge in a way that separates platform-conditional from market-wide behaviour?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425696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4425696"/>
            <a:ext cx="822960" cy="12984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443983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553712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Does the audio drift too?  (our extension)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Do CLAP embeddings of the charted songs themselves drift across years — and do the two Chinese platforms pick songs that sound different, or just different songs?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870448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Q1–Q2 are answered from chart metadata; Q3 is the audio-embedding lens — listed as future work in the first draft, delivered here.</a:t>
            </a:r>
          </a:p>
        </p:txBody>
      </p:sp>
    </p:spTree>
    <p:extLst>
      <p:ext uri="{BB962C8B-B14F-4D97-AF65-F5344CB8AC3E}">
        <p14:creationId xmlns:p14="http://schemas.microsoft.com/office/powerpoint/2010/main" val="65374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Why important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822960" cy="129844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82495"/>
            <a:ext cx="9884664" cy="588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The world's largest music marke</a:t>
            </a:r>
            <a:r>
              <a:rPr lang="en-US" altLang="zh-CN" sz="1400" b="1" dirty="0">
                <a:solidFill>
                  <a:srgbClr val="10131A"/>
                </a:solidFill>
                <a:latin typeface="Segoe UI"/>
              </a:rPr>
              <a:t>t</a:t>
            </a:r>
            <a:endParaRPr sz="1400" b="1" dirty="0">
              <a:solidFill>
                <a:srgbClr val="10131A"/>
              </a:solidFill>
              <a:latin typeface="Segoe UI"/>
            </a:endParaRP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Chinese streaming is the world's largest recorded-music market, yet year-over-year listener-</a:t>
            </a:r>
            <a:r>
              <a:rPr sz="1050" b="0" dirty="0" err="1">
                <a:solidFill>
                  <a:srgbClr val="6B7280"/>
                </a:solidFill>
                <a:latin typeface="Segoe UI"/>
              </a:rPr>
              <a:t>behaviour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 drift is rarely measured at chart-history level. Seven years of weekly </a:t>
            </a:r>
            <a:r>
              <a:rPr sz="1050" b="0" dirty="0" err="1">
                <a:solidFill>
                  <a:srgbClr val="6B7280"/>
                </a:solidFill>
                <a:latin typeface="Segoe UI"/>
              </a:rPr>
              <a:t>toplists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 make it measurable.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90088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990088"/>
            <a:ext cx="822960" cy="129844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008376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18104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Three events should leave fingerprints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2019: Douyin reaches ~400M DAU.  2020: COVID-19 nationwide stay-at-home.  2022: post-COVID platform / genre ecosystem split. If behaviour really shifted, the charts should show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25696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425696"/>
            <a:ext cx="822960" cy="12984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443983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2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From ranks to sound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Ranks say what was picked; embeddings say what it sounds like. Adding the audio lens is the step beyond metadata-only chart studies.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97880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If listener behaviour really changed, we should see it twice — in what gets charted, and in how it sounds.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Existing works &amp; our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822960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82495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Western chart evolution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Serrà et al. 2012 (Scientific Reports) and Mauch et al. 2015 (Royal Society Open Science) traced Western popular music through audio features — pitch, timbre, loudness.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90088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990088"/>
            <a:ext cx="82296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008376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18104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Chinese music studies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Focus on metadata, lyrics and recommendation systems; quantitative chart-history work on Chinese platforms is scarce — no drift studies at this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25696"/>
            <a:ext cx="11055096" cy="12984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425696"/>
            <a:ext cx="822960" cy="129844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443983"/>
            <a:ext cx="82296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2"/>
            <a:ext cx="9884664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Our position</a:t>
            </a: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Bring the Western chart-evolution lens to Chinese charts: 7-year QQ chart metadata + CLAP audio embeddings of 374 charted songs — one pipeline, both lenses.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97880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The audio-embedding extension was explicitly listed as future work in the first draft of this project — this presentation delivers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95F3-0F03-0D69-DE1B-EC4B34F4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F36DF-C36A-D745-0E0D-CC4CE4D728E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EE79AFA-A931-31D3-C682-A63532A65843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E3A464-E257-529C-EDFE-07F6BDEC3F47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DF8CA6-30E9-A564-5979-6440B5D22A8D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8F21F-E6A4-7B6B-BDBB-CB73D08777C1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AD993-E05D-812C-4D6D-005EA8C4971D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5200" b="1" dirty="0">
                <a:solidFill>
                  <a:srgbClr val="FFFFFF"/>
                </a:solidFill>
                <a:latin typeface="Segoe UI"/>
              </a:rPr>
              <a:t>Part2</a:t>
            </a:r>
          </a:p>
          <a:p>
            <a:pPr algn="l">
              <a:lnSpc>
                <a:spcPct val="100000"/>
              </a:lnSpc>
            </a:pPr>
            <a:r>
              <a:rPr sz="5200" b="1" dirty="0">
                <a:solidFill>
                  <a:srgbClr val="FFFFFF"/>
                </a:solidFill>
                <a:latin typeface="Segoe UI"/>
              </a:rPr>
              <a:t>Method and Pipeline</a:t>
            </a:r>
          </a:p>
          <a:p>
            <a:pPr algn="l">
              <a:lnSpc>
                <a:spcPct val="100000"/>
              </a:lnSpc>
            </a:pPr>
            <a:r>
              <a:rPr sz="2400" b="0" dirty="0">
                <a:solidFill>
                  <a:srgbClr val="C9D1DB"/>
                </a:solidFill>
                <a:latin typeface="Segoe UI"/>
              </a:rPr>
              <a:t>From chart scrapes to CLAP audio vectors</a:t>
            </a:r>
          </a:p>
        </p:txBody>
      </p:sp>
    </p:spTree>
    <p:extLst>
      <p:ext uri="{BB962C8B-B14F-4D97-AF65-F5344CB8AC3E}">
        <p14:creationId xmlns:p14="http://schemas.microsoft.com/office/powerpoint/2010/main" val="191911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10131A"/>
                </a:solidFill>
                <a:latin typeface="Segoe UI"/>
              </a:rPr>
              <a:t>Dat</a:t>
            </a:r>
            <a:r>
              <a:rPr lang="en-US" altLang="zh-CN" sz="2700" b="1" dirty="0">
                <a:solidFill>
                  <a:srgbClr val="10131A"/>
                </a:solidFill>
                <a:latin typeface="Segoe UI"/>
              </a:rPr>
              <a:t>a Resources</a:t>
            </a:r>
            <a:endParaRPr sz="2700" b="1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24912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724912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724912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21024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621024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621024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4517136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517136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13248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5413248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41324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1856231"/>
            <a:ext cx="10012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QQ Music — 7 weekly toplists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2018W30–2024W52, ~137,000 song-week rows. Public endpoint u.y.qq.com (same as the web client), no login; JSON cache + long-format CSV.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931104"/>
            <a:ext cx="10012680" cy="3922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dirty="0">
                <a:solidFill>
                  <a:srgbClr val="10131A"/>
                </a:solidFill>
                <a:latin typeface="Segoe UI"/>
              </a:rPr>
              <a:t>NetEase Cloud Music — current snapshot</a:t>
            </a:r>
          </a:p>
          <a:p>
            <a:pPr algn="l">
              <a:lnSpc>
                <a:spcPct val="110000"/>
              </a:lnSpc>
            </a:pPr>
            <a:r>
              <a:rPr lang="en-US" sz="1050" b="0" dirty="0">
                <a:solidFill>
                  <a:srgbClr val="6B7280"/>
                </a:solidFill>
                <a:latin typeface="Segoe UI"/>
              </a:rPr>
              <a:t>Annual Tops and 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Top-200 from music.163.com (public). No historical weekly endpoint exists.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648456"/>
            <a:ext cx="10012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dirty="0">
                <a:solidFill>
                  <a:srgbClr val="10131A"/>
                </a:solidFill>
                <a:latin typeface="Segoe UI"/>
              </a:rPr>
              <a:t>Apple Music CN + US — current snapshots</a:t>
            </a:r>
          </a:p>
          <a:p>
            <a:pPr algn="l">
              <a:lnSpc>
                <a:spcPct val="110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Top-50 each, official RSS (rss.applemarketingtools.com) — same-day cross-platform comparison.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544568"/>
            <a:ext cx="10012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Local audio — manually downloaded &amp; post-processed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Charted songs collected as MP3s manually, then post-processed (decrypted / converted to standard MP3) and matched by normalized title: QQ 429 entries / 319 songs (58.8%), NetEase 60 / 55 (95.2%).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19440"/>
            <a:ext cx="10012680" cy="3922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dirty="0">
                <a:solidFill>
                  <a:srgbClr val="10131A"/>
                </a:solidFill>
                <a:latin typeface="Segoe UI"/>
              </a:rPr>
              <a:t>Derived data </a:t>
            </a:r>
            <a:endParaRPr lang="en-US" sz="1350" b="1" dirty="0">
              <a:solidFill>
                <a:srgbClr val="10131A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CLAP 512-d embeddings (374 songs), yearly / monthly centroids, R analysis database (22 CSVs) — every figure reproducible end-to-end.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B3B2-9FE1-38A2-22FA-06A919D1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05FF92-93B9-5D95-3209-CC89D0899FAD}"/>
              </a:ext>
            </a:extLst>
          </p:cNvPr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BE339-759C-B10B-6403-E546905CCA5B}"/>
              </a:ext>
            </a:extLst>
          </p:cNvPr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D8221-FC49-3A50-2BF0-38BD491892ED}"/>
              </a:ext>
            </a:extLst>
          </p:cNvPr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131A"/>
                </a:solidFill>
                <a:latin typeface="Segoe UI"/>
              </a:rPr>
              <a:t>Pipeline, toolchain &amp; reproducibility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35FBC-2446-4394-CF1A-262C3700409B}"/>
              </a:ext>
            </a:extLst>
          </p:cNvPr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10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66928" y="1481328"/>
            <a:ext cx="2606040" cy="3017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66928" y="1481328"/>
            <a:ext cx="2606040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166420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B954"/>
                </a:solidFill>
                <a:latin typeface="Segoe U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1956816"/>
            <a:ext cx="2240280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Fetch — Python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POST u.y.qq.com musicu.fcg for 7 topIds × ~340 weekly issues → JSON cache + long CSV. Snapshot collectors: NetEase top-200, Apple CN/US top-50.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1481328"/>
            <a:ext cx="2606040" cy="3017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83280" y="1481328"/>
            <a:ext cx="2606040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166420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B8D8"/>
                </a:solidFill>
                <a:latin typeface="Segoe U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1956816"/>
            <a:ext cx="2240280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Clean &amp; aggregate — R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01_clean.R builds the song-year table: 137K song-week rows → 22,000+ (song, year) rows, version-normalised, genre-tagged.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1481328"/>
            <a:ext cx="2606040" cy="3017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1481328"/>
            <a:ext cx="2606040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82512" y="166420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C5CFF"/>
                </a:solidFill>
                <a:latin typeface="Segoe U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1956816"/>
            <a:ext cx="2240280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Analyse — R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Changepoint (BIC + permutation), yearly offset, cross-chart correlation, genre drift, cross-region, LOF outliers, COVID features (scripts 02–17).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15984" y="1481328"/>
            <a:ext cx="2606040" cy="3017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15984" y="1481328"/>
            <a:ext cx="2606040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98863" y="166420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Segoe U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3" y="1956816"/>
            <a:ext cx="2240280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Audio branch — Python + R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CLAP vectorization on GPU — 374 songs in 4.7 min, 0 failures → export_for_r.py → r_project/: 9 R scripts regenerate every taste-map figure.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09160"/>
            <a:ext cx="11055096" cy="13716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8" y="470916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DB954"/>
                </a:solidFill>
                <a:latin typeface="Segoe UI"/>
              </a:rPr>
              <a:t>TOOLCHAIN &amp; REPRODUCIBILITY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1DB"/>
                </a:solidFill>
                <a:latin typeface="Segoe UI"/>
              </a:rPr>
              <a:t>Python 3.13.7 (fetch, CLAP, GPU)   ·   R 4.2.3 + renv (69 packages locked)   ·   pandoc 3.1.13   ·   CLAP laion/clap-htsat-unfused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9D1DB"/>
                </a:solidFill>
                <a:latin typeface="Segoe UI"/>
              </a:rPr>
              <a:t>renv::restore() → run the scripts in order → every figure and number regenerates. Chart endpoints are public; audio stays local.</a:t>
            </a:r>
          </a:p>
        </p:txBody>
      </p:sp>
    </p:spTree>
    <p:extLst>
      <p:ext uri="{BB962C8B-B14F-4D97-AF65-F5344CB8AC3E}">
        <p14:creationId xmlns:p14="http://schemas.microsoft.com/office/powerpoint/2010/main" val="89590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Difficulties — and how we handled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55096" cy="1051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603504" cy="10515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603504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82495"/>
            <a:ext cx="988466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dirty="0">
                <a:solidFill>
                  <a:srgbClr val="10131A"/>
                </a:solidFill>
                <a:latin typeface="Segoe UI"/>
              </a:rPr>
              <a:t>QQ's public API clamps the window</a:t>
            </a: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Periods outside 2018W30–2024W52 are rejected → we work within the window and document the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34056"/>
            <a:ext cx="11055096" cy="1051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734056"/>
            <a:ext cx="603504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752344"/>
            <a:ext cx="603504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62072"/>
            <a:ext cx="988466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Play-counts require login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Per-song play counts return code 500003 without login → analysis uses chart-rank metadata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3632"/>
            <a:ext cx="11055096" cy="1051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913632"/>
            <a:ext cx="603504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931920"/>
            <a:ext cx="603504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41648"/>
            <a:ext cx="988466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No public weekly history elsewhere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NetEase, Spotify Charts, Apple Music, Kugou, Douyin, Bilibili, Last.fm all lack historical endpoints → current-snapshot structural metrics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3208"/>
            <a:ext cx="11055096" cy="1051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5093208"/>
            <a:ext cx="603504" cy="105156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5111496"/>
            <a:ext cx="603504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221224"/>
            <a:ext cx="988466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Audio coverage is partial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No legal bulk-audio API → MP3s manually downloaded and post-processed: QQ 58.8% coverage, NetEase annual only, QQ 2024 H2 missing → reported as boundary, not interpreted.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10131A"/>
                </a:solidFill>
                <a:latin typeface="Segoe UI"/>
              </a:rPr>
              <a:t>What data we used, and how it became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603504" cy="9601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18488"/>
            <a:ext cx="60350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28216"/>
            <a:ext cx="9884664" cy="407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Two charts</a:t>
            </a: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QQ Music monthly Top10, 730 entries (2018-202</a:t>
            </a:r>
            <a:r>
              <a:rPr lang="en-US" sz="1050" b="0" dirty="0">
                <a:solidFill>
                  <a:srgbClr val="6B7280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)  +  NetEase Cloud Music annual song chart, 63 entries (2018-2024)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9748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697480"/>
            <a:ext cx="603504" cy="96012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715768"/>
            <a:ext cx="60350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25496"/>
            <a:ext cx="9884664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Matched to local audio — manually collected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Normalized-title matching against local MP3s, manually downloaded and post-processed (decrypted / converted to standard MP3): QQ 429 entries / 319 songs (58.8%), NetEase 60 / 55 (95.2%)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9476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794760"/>
            <a:ext cx="603504" cy="9601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813048"/>
            <a:ext cx="60350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22776"/>
            <a:ext cx="9884664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Each song → a 512-dim vector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CLAP (laion/clap-htsat-unfused): 48 kHz mono → 10 s windows, 10 s hop → log-Mel spectrogram → HTS-AT encoder → window average → 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9204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892040"/>
            <a:ext cx="603504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910327"/>
            <a:ext cx="60350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0055"/>
            <a:ext cx="9884664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374 unique songs, one shared space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Every vector lives in the same 512-dim space, so platforms and years are directly comparable. GPU vectorization: 4.7 min, 0 failures.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① waveform &amp; windowing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B7280"/>
                </a:solidFill>
                <a:latin typeface="Segoe UI"/>
              </a:rPr>
              <a:t>Sample song: Snow Distance - Capper / Luo Yan  (NetEase annual chart #1, 2023)</a:t>
            </a:r>
          </a:p>
        </p:txBody>
      </p:sp>
      <p:pic>
        <p:nvPicPr>
          <p:cNvPr id="6" name="Picture 5" descr="chain_1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11055096" cy="2848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257800"/>
            <a:ext cx="110550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Why cut 10-second windows?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CLAP's audio encoder only accepts fixed-length input (~10 s). A 166 s song is cut into 17 non-overlapping windows; each window is encoded separately and averaged - so every section of the song is seen, not just the chorus.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② waveform to spectrogram</a:t>
            </a:r>
          </a:p>
        </p:txBody>
      </p:sp>
      <p:pic>
        <p:nvPicPr>
          <p:cNvPr id="5" name="Picture 4" descr="chain_2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11055096" cy="3826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32120"/>
            <a:ext cx="1105509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The log-Mel spectrogram is the model's real input.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It warps linear frequency onto a scale that mimics the human ear (low-freq dense, high-freq sparse) and takes the log of magnitudes - that is how ears hear. From here on the model never sees the waveform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③ encode &amp; pool</a:t>
            </a:r>
          </a:p>
        </p:txBody>
      </p:sp>
      <p:pic>
        <p:nvPicPr>
          <p:cNvPr id="5" name="Picture 4" descr="chain_3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5096" cy="41201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742432"/>
            <a:ext cx="11055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17 window vectors → average → L2 normalize → one song = one point in 512-dim space.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Window-to-window cosine averages 0.887 - sections of the same song are genuinely similar, so averaging is 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④ similarity = angle</a:t>
            </a:r>
          </a:p>
        </p:txBody>
      </p:sp>
      <p:pic>
        <p:nvPicPr>
          <p:cNvPr id="5" name="Picture 4" descr="chain_4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11055096" cy="3694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49240"/>
            <a:ext cx="110550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Cosine only measures direction, not length.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Note the histogram: every library song sits at 0.7-0.9 (mean 0.830), not scattered around 0 - the “narrow cone effect” of contrastive audio models. It does not hurt ranking, but “similarity 0.85” never means “the same song”; only relative differences matter.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2DB83-32D2-3D5F-0F8D-314AC506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29450F-46E1-7286-56AE-02349FB669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874CB9-A06A-CC58-4CA5-7FAC7A4D73A6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947778-376D-DB35-844F-68A2D2331957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8B8734-FEDA-9AB8-DA07-C5847E02E272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22474-0777-8D9F-2773-C20436B6ED94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E381F-12AD-6C8A-BAFA-9FB010301E51}"/>
              </a:ext>
            </a:extLst>
          </p:cNvPr>
          <p:cNvSpPr txBox="1"/>
          <p:nvPr/>
        </p:nvSpPr>
        <p:spPr>
          <a:xfrm>
            <a:off x="704087" y="1417320"/>
            <a:ext cx="8561527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Segoe UI"/>
              </a:rPr>
              <a:t>Part3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Segoe UI"/>
              </a:rPr>
              <a:t>Data Analysis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C9D1DB"/>
                </a:solidFill>
                <a:latin typeface="Segoe UI"/>
              </a:rPr>
              <a:t>Changepoints, correlations, genre drift — and the taste map</a:t>
            </a:r>
          </a:p>
        </p:txBody>
      </p:sp>
    </p:spTree>
    <p:extLst>
      <p:ext uri="{BB962C8B-B14F-4D97-AF65-F5344CB8AC3E}">
        <p14:creationId xmlns:p14="http://schemas.microsoft.com/office/powerpoint/2010/main" val="221768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131A"/>
                </a:solidFill>
                <a:latin typeface="Segoe UI"/>
              </a:rPr>
              <a:t>Three changepoints — all p &lt; 0.001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18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1517904"/>
          <a:ext cx="5394960" cy="2542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Year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Real-world event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0131A"/>
                          </a:solidFill>
                          <a:latin typeface="Segoe UI"/>
                        </a:rPr>
                        <a:t>2019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0131A"/>
                          </a:solidFill>
                          <a:latin typeface="Segoe UI"/>
                        </a:rPr>
                        <a:t>Douyin reaches ~400M DAU; QQ launches the Douyin Hit chart (topId 60)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0131A"/>
                          </a:solidFill>
                          <a:latin typeface="Segoe UI"/>
                        </a:rPr>
                        <a:t>2020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0131A"/>
                          </a:solidFill>
                          <a:latin typeface="Segoe UI"/>
                        </a:rPr>
                        <a:t>COVID-19 nationwide stay-at-home (Jan–Apr); TikTok passes 2B downloads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0131A"/>
                          </a:solidFill>
                          <a:latin typeface="Segoe UI"/>
                        </a:rPr>
                        <a:t>2022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0131A"/>
                          </a:solidFill>
                          <a:latin typeface="Segoe UI"/>
                        </a:rPr>
                        <a:t>QQ launches the Guofeng Hot Songs chart (topId 65); post-COVID platform split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4224528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Response: yearly mean log-weeks-on-chart — seven yearly means (2018–2024); k = 3 breakpoints → four segments.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517904"/>
            <a:ext cx="5385816" cy="26517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6208" y="1517904"/>
            <a:ext cx="5385816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1719072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How we find them — R/05_changepoint.R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10131A"/>
                </a:solidFill>
                <a:latin typeface="Segoe UI"/>
              </a:rPr>
              <a:t>Stage 1 — BIC piecewise-linear fit.  </a:t>
            </a:r>
            <a:r>
              <a:rPr sz="1050" b="0">
                <a:solidFill>
                  <a:srgbClr val="6B7280"/>
                </a:solidFill>
                <a:latin typeface="Segoe UI"/>
              </a:rPr>
              <a:t>For each k ∈ {0…4}, fit a k-breakpoint piecewise-linear regression of yearly mean log-weeks-on-chart against year; BIC = n·log(RSS/n) + (k+3)·log(n) selects k = 3.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10131A"/>
                </a:solidFill>
                <a:latin typeface="Segoe UI"/>
              </a:rPr>
              <a:t>Stage 2 — Permutation test.  </a:t>
            </a:r>
            <a:r>
              <a:rPr sz="1050" b="0">
                <a:solidFill>
                  <a:srgbClr val="6B7280"/>
                </a:solidFill>
                <a:latin typeface="Segoe UI"/>
              </a:rPr>
              <a:t>Shuffle the yearly means 1,000×, refit k ∈ {0,1,2}, record each shuffle's minimum BIC; p = share of shuffled min-BIC ≤ observed. p &lt; 0.001 → three changepoints are not noise.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29200"/>
            <a:ext cx="11055096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5029200"/>
            <a:ext cx="64008" cy="100584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5102352"/>
            <a:ext cx="10579607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Reading the 2020 break:  </a:t>
            </a:r>
            <a:r>
              <a:rPr sz="1150" b="0">
                <a:solidFill>
                  <a:srgbClr val="6B7280"/>
                </a:solidFill>
                <a:latin typeface="Segoe UI"/>
              </a:rPr>
              <a:t>post-lockdown acceleration, not the lockdown itself — COVID-Q1 was a 14-week industry contraction; the listening surge came in 2020-W27+ (R/15_covid_qq_features.R).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Yearly offset from the 2018–19 baseline (Q1)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7077456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Toplist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2018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2019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2020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2021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2022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2023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0131A"/>
                          </a:solidFill>
                          <a:latin typeface="Segoe UI"/>
                        </a:rPr>
                        <a:t>Online Songs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marL="64008" marR="64008" marT="18288" marB="18288" anchor="ctr">
                    <a:solidFill>
                      <a:srgbClr val="FE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+2</a:t>
                      </a:r>
                    </a:p>
                  </a:txBody>
                  <a:tcPr marL="64008" marR="64008" marT="18288" marB="18288" anchor="ctr"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+22</a:t>
                      </a:r>
                    </a:p>
                  </a:txBody>
                  <a:tcPr marL="64008" marR="64008" marT="18288" marB="18288" anchor="ctr">
                    <a:solidFill>
                      <a:srgbClr val="C2EC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+6</a:t>
                      </a:r>
                    </a:p>
                  </a:txBody>
                  <a:tcPr marL="64008" marR="64008" marT="18288" marB="18288" anchor="ctr"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+24</a:t>
                      </a:r>
                    </a:p>
                  </a:txBody>
                  <a:tcPr marL="64008" marR="64008" marT="18288" marB="18288" anchor="ctr">
                    <a:solidFill>
                      <a:srgbClr val="BCE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+34</a:t>
                      </a:r>
                    </a:p>
                  </a:txBody>
                  <a:tcPr marL="64008" marR="64008" marT="18288" marB="18288" anchor="ctr">
                    <a:solidFill>
                      <a:srgbClr val="A0E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+65</a:t>
                      </a:r>
                    </a:p>
                  </a:txBody>
                  <a:tcPr marL="64008" marR="64008" marT="18288" marB="18288" anchor="ctr">
                    <a:solidFill>
                      <a:srgbClr val="4AC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0131A"/>
                          </a:solidFill>
                          <a:latin typeface="Segoe UI"/>
                        </a:rPr>
                        <a:t>Mainland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+5</a:t>
                      </a:r>
                    </a:p>
                  </a:txBody>
                  <a:tcPr marL="64008" marR="64008" marT="18288" marB="18288" anchor="ctr">
                    <a:solidFill>
                      <a:srgbClr val="F1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-5</a:t>
                      </a:r>
                    </a:p>
                  </a:txBody>
                  <a:tcPr marL="64008" marR="64008" marT="18288" marB="18288" anchor="ctr"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marL="64008" marR="64008" marT="18288" marB="18288" anchor="ctr"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marL="64008" marR="64008" marT="18288" marB="18288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+6</a:t>
                      </a:r>
                    </a:p>
                  </a:txBody>
                  <a:tcPr marL="64008" marR="64008" marT="18288" marB="18288" anchor="ctr"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+8</a:t>
                      </a:r>
                    </a:p>
                  </a:txBody>
                  <a:tcPr marL="64008" marR="64008" marT="18288" marB="18288" anchor="ctr">
                    <a:solidFill>
                      <a:srgbClr val="E9F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marL="64008" marR="64008" marT="18288" marB="18288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0131A"/>
                          </a:solidFill>
                          <a:latin typeface="Segoe UI"/>
                        </a:rPr>
                        <a:t>Hot Songs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-5</a:t>
                      </a:r>
                    </a:p>
                  </a:txBody>
                  <a:tcPr marL="64008" marR="64008" marT="18288" marB="18288" anchor="ctr"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+5</a:t>
                      </a:r>
                    </a:p>
                  </a:txBody>
                  <a:tcPr marL="64008" marR="64008" marT="18288" marB="18288" anchor="ctr">
                    <a:solidFill>
                      <a:srgbClr val="F1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+7</a:t>
                      </a:r>
                    </a:p>
                  </a:txBody>
                  <a:tcPr marL="64008" marR="64008" marT="18288" marB="18288" anchor="ctr">
                    <a:solidFill>
                      <a:srgbClr val="ECF9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+19</a:t>
                      </a:r>
                    </a:p>
                  </a:txBody>
                  <a:tcPr marL="64008" marR="64008" marT="18288" marB="18288" anchor="ctr">
                    <a:solidFill>
                      <a:srgbClr val="CAE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-26</a:t>
                      </a:r>
                    </a:p>
                  </a:txBody>
                  <a:tcPr marL="64008" marR="64008" marT="18288" marB="18288" anchor="ctr">
                    <a:solidFill>
                      <a:srgbClr val="F4BA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041648"/>
            <a:ext cx="7077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offset in percentage points vs the 2018–19 baseline (%)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18704" y="1572768"/>
            <a:ext cx="3703320" cy="312724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18704" y="1572768"/>
            <a:ext cx="3703320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783080"/>
            <a:ext cx="3291840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Highlights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Hot Songs 2022 = -26.3% — fewest songs broke into the top-10: hits rotated, fewer reached the front (the platform-split year).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Online Songs 2024 = +64.9% — most top-10 reach in six years: the network / Douyin-crossover era.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Mainland stays within ±10% — the chart front barely moves.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105509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0131A"/>
                </a:solidFill>
                <a:latin typeface="Segoe UI"/>
              </a:rPr>
              <a:t>How to read it — </a:t>
            </a:r>
            <a:r>
              <a:rPr sz="1150" b="0">
                <a:solidFill>
                  <a:srgbClr val="6B7280"/>
                </a:solidFill>
                <a:latin typeface="Segoe UI"/>
              </a:rPr>
              <a:t>offset = per-year, per-toplist share of songs whose peak rank reaches the top-10, vs the 2018–19 baseline (R/16_yearly_offset.R). Positive = more songs break into the top-10 (rising hits); negative = fewer (rotating hits).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Changepoints say when the regime shifted; this heatmap says how big the shift was, per chart, per year. One sparse toplist (baseline coverage only in 2018) is omitted; Hot Songs 2023–24 are not shown in the source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Cross-chart correlation — the 2022 flip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749808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endParaRPr/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Hot Songs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Online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Mainland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EDM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Rap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Guofeng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Douyin</a:t>
                      </a:r>
                    </a:p>
                  </a:txBody>
                  <a:tcPr marL="64008" marR="64008" marT="18288" marB="18288" anchor="ctr">
                    <a:solidFill>
                      <a:srgbClr val="101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Hot Songs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64008" marR="64008" marT="18288" marB="18288" anchor="ctr">
                    <a:solidFill>
                      <a:srgbClr val="5CCD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0.92</a:t>
                      </a:r>
                    </a:p>
                  </a:txBody>
                  <a:tcPr marL="64008" marR="64008" marT="18288" marB="18288" anchor="ctr">
                    <a:solidFill>
                      <a:srgbClr val="6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0.84</a:t>
                      </a:r>
                    </a:p>
                  </a:txBody>
                  <a:tcPr marL="64008" marR="64008" marT="18288" marB="18288" anchor="ctr">
                    <a:solidFill>
                      <a:srgbClr val="76D5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-0.66</a:t>
                      </a:r>
                    </a:p>
                  </a:txBody>
                  <a:tcPr marL="64008" marR="64008" marT="18288" marB="18288" anchor="ctr">
                    <a:solidFill>
                      <a:srgbClr val="EE98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-0.89</a:t>
                      </a:r>
                    </a:p>
                  </a:txBody>
                  <a:tcPr marL="64008" marR="64008" marT="18288" marB="18288" anchor="ctr">
                    <a:solidFill>
                      <a:srgbClr val="E9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marL="64008" marR="64008" marT="18288" marB="18288" anchor="ctr">
                    <a:solidFill>
                      <a:srgbClr val="8AD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-0.76</a:t>
                      </a:r>
                    </a:p>
                  </a:txBody>
                  <a:tcPr marL="64008" marR="64008" marT="18288" marB="18288" anchor="ctr">
                    <a:solidFill>
                      <a:srgbClr val="EC8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Online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0.92</a:t>
                      </a:r>
                    </a:p>
                  </a:txBody>
                  <a:tcPr marL="64008" marR="64008" marT="18288" marB="18288" anchor="ctr">
                    <a:solidFill>
                      <a:srgbClr val="6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64008" marR="64008" marT="18288" marB="18288" anchor="ctr">
                    <a:solidFill>
                      <a:srgbClr val="5CCD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0.93</a:t>
                      </a:r>
                    </a:p>
                  </a:txBody>
                  <a:tcPr marL="64008" marR="64008" marT="18288" marB="18288" anchor="ctr">
                    <a:solidFill>
                      <a:srgbClr val="68D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-0.84</a:t>
                      </a:r>
                    </a:p>
                  </a:txBody>
                  <a:tcPr marL="64008" marR="64008" marT="18288" marB="18288" anchor="ctr">
                    <a:solidFill>
                      <a:srgbClr val="EA7C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marL="64008" marR="64008" marT="18288" marB="18288" anchor="ctr">
                    <a:solidFill>
                      <a:srgbClr val="8ADB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0131A"/>
                          </a:solidFill>
                          <a:latin typeface="Segoe UI"/>
                        </a:rPr>
                        <a:t>Douyin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-0.76</a:t>
                      </a:r>
                    </a:p>
                  </a:txBody>
                  <a:tcPr marL="64008" marR="64008" marT="18288" marB="18288" anchor="ctr">
                    <a:solidFill>
                      <a:srgbClr val="EC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0131A"/>
                          </a:solidFill>
                          <a:latin typeface="Segoe UI"/>
                        </a:rPr>
                        <a:t>0.16</a:t>
                      </a:r>
                    </a:p>
                  </a:txBody>
                  <a:tcPr marL="64008" marR="64008" marT="18288" marB="18288" anchor="ctr">
                    <a:solidFill>
                      <a:srgbClr val="E5F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0131A"/>
                          </a:solidFill>
                          <a:latin typeface="Segoe UI"/>
                        </a:rPr>
                        <a:t>-0.20</a:t>
                      </a:r>
                    </a:p>
                  </a:txBody>
                  <a:tcPr marL="64008" marR="64008" marT="18288" marB="18288" anchor="ctr"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-0.76</a:t>
                      </a:r>
                    </a:p>
                  </a:txBody>
                  <a:tcPr marL="64008" marR="64008" marT="18288" marB="18288" anchor="ctr">
                    <a:solidFill>
                      <a:srgbClr val="EC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0131A"/>
                          </a:solidFill>
                          <a:latin typeface="Segoe UI"/>
                        </a:rPr>
                        <a:t>0.12</a:t>
                      </a:r>
                    </a:p>
                  </a:txBody>
                  <a:tcPr marL="64008" marR="64008" marT="18288" marB="18288" anchor="ctr">
                    <a:solidFill>
                      <a:srgbClr val="EBF9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64008" marR="64008" marT="18288" marB="18288" anchor="ctr">
                    <a:solidFill>
                      <a:srgbClr val="5CCD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47888" y="1572768"/>
            <a:ext cx="3374136" cy="2157984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47888" y="1572768"/>
            <a:ext cx="3374136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67344" y="1773936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What flips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Hot ↔ Douyin: +0.32 → -0.76 after the 2022 split.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Hot ↔ Rap -0.89 — opposite rotation cycles.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Online ↔ EDM -0.84 — opposite regimes.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41648"/>
            <a:ext cx="11055096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041648"/>
            <a:ext cx="64008" cy="82296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4114800"/>
            <a:ext cx="10579607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The 2022 fingerprint:  </a:t>
            </a:r>
            <a:r>
              <a:rPr sz="1150" b="0">
                <a:solidFill>
                  <a:srgbClr val="6B7280"/>
                </a:solidFill>
                <a:latin typeface="Segoe UI"/>
              </a:rPr>
              <a:t>the Hot ↔ Douyin correlation flipped from +0.32 to -0.76 — Douyin hits stopped feeding the Hot Songs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20640"/>
            <a:ext cx="11055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Correlation of yearly mean log-weeks-on-chart across QQ's seven toplists (R/07–08). Positive = two charts age songs in step; negative = one chart's staples are the other's fresh rotation. Green = positive, red = negative.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Genre drift — edm up, guofeng down</a:t>
            </a:r>
          </a:p>
        </p:txBody>
      </p:sp>
      <p:pic>
        <p:nvPicPr>
          <p:cNvPr id="5" name="Picture 4" descr="fig_genre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812280" cy="382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07808" y="1554480"/>
            <a:ext cx="4014215" cy="3822191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07808" y="1554480"/>
            <a:ext cx="4014215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27264" y="1755648"/>
            <a:ext cx="3611880" cy="342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What moved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edm: the only genre that grew monotonically — 27% → 41% of tagged entries (2020 → 2024).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guofeng: declined 34% → 24%; its dedicated QQ chart launched in 2022.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•  rap: peaked at 43% in 2023, fell back to 36% in 2024.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Genre membership comes from official chart tags; the three genres partition the tagged subset.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57784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Share of genre-tagged chart entries per year (rap + edm + guofeng ≈ 100%). Source: R/09_genre_drift.R — figure redrawn from the deck's table values in the deck palette.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Cross-region (Q2) — platform-conditional, not market-wide</a:t>
            </a:r>
          </a:p>
        </p:txBody>
      </p:sp>
      <p:pic>
        <p:nvPicPr>
          <p:cNvPr id="5" name="Picture 4" descr="s23_shape1_0ee7e025_on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5349240" cy="3056708"/>
          </a:xfrm>
          <a:prstGeom prst="rect">
            <a:avLst/>
          </a:prstGeom>
        </p:spPr>
      </p:pic>
      <p:pic>
        <p:nvPicPr>
          <p:cNvPr id="6" name="Picture 5" descr="s23_shape3_1e8c372a_on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0567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9028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Share of top-N released ≤ 2018 (higher = older catalogue)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59028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Top-3 artists' share of top-N (higher = star concentration)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0"/>
            <a:ext cx="11055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0131A"/>
                </a:solidFill>
                <a:latin typeface="Segoe UI"/>
              </a:rPr>
              <a:t>share_old (≤2018):  </a:t>
            </a:r>
            <a:r>
              <a:rPr sz="1100" b="0">
                <a:solidFill>
                  <a:srgbClr val="6B7280"/>
                </a:solidFill>
                <a:latin typeface="Segoe UI"/>
              </a:rPr>
              <a:t>QQ 18.9%  ·  NetEase 50.6%  ·  Apple CN 84.0%  ·  Apple US 20.0%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0131A"/>
                </a:solidFill>
                <a:latin typeface="Segoe UI"/>
              </a:rPr>
              <a:t>top-3 artist share:  </a:t>
            </a:r>
            <a:r>
              <a:rPr sz="1100" b="0">
                <a:solidFill>
                  <a:srgbClr val="6B7280"/>
                </a:solidFill>
                <a:latin typeface="Segoe UI"/>
              </a:rPr>
              <a:t>QQ 24.5%  ·  NetEase 9.1%  ·  Apple CN 54.0%  ·  Apple US 38.0%   ·   artist Gini ≈ 0.32 on all four platforms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669280"/>
            <a:ext cx="11055096" cy="603504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5669280"/>
            <a:ext cx="64008" cy="603504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5742432"/>
            <a:ext cx="1057960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131A"/>
                </a:solidFill>
                <a:latin typeface="Segoe UI"/>
              </a:rPr>
              <a:t>Key insight:  </a:t>
            </a:r>
            <a:r>
              <a:rPr sz="1050" b="0">
                <a:solidFill>
                  <a:srgbClr val="6B7280"/>
                </a:solidFill>
                <a:latin typeface="Segoe UI"/>
              </a:rPr>
              <a:t>'old catalogue' + 'star concentration' are MORE extreme on Apple Music CN than on QQ — QQ's patterns are platform-conditional, not the Chinese-market pattern. Apple CN's top-3 = Jay Chou alone; NetEase's = many artists at 1–5 songs each.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The map: both platforms share one region</a:t>
            </a:r>
          </a:p>
        </p:txBody>
      </p:sp>
      <p:pic>
        <p:nvPicPr>
          <p:cNvPr id="5" name="Picture 4" descr="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3" y="1481328"/>
            <a:ext cx="10271464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349 of 360 unique titles chart on one platform only, yet in vector space they all mix together - chart rosters differ, the style distribution of what gets picked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Platform difference: averages identical, song mix different</a:t>
            </a:r>
          </a:p>
        </p:txBody>
      </p:sp>
      <p:pic>
        <p:nvPicPr>
          <p:cNvPr id="5" name="Picture 4" descr="map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5096" cy="3996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623560"/>
            <a:ext cx="11055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B954"/>
                </a:solidFill>
                <a:latin typeface="Segoe UI"/>
              </a:rPr>
              <a:t>Q1 answer:  </a:t>
            </a:r>
            <a:r>
              <a:rPr sz="1150" b="0">
                <a:solidFill>
                  <a:srgbClr val="6B7280"/>
                </a:solidFill>
                <a:latin typeface="Segoe UI"/>
              </a:rPr>
              <a:t>average taste is indistinguishable (full-period centroid angle 3.93°, inside the bootstrap noise band), but single songs are separable (AUC 0.66, 95% CI [0.59, 0.73]). Same-year angles (7-9°) exceed the full-period angle: the difference comes from year composition, not platform style.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taste changes: vibration in place, no one-way drift</a:t>
            </a:r>
          </a:p>
        </p:txBody>
      </p:sp>
      <p:pic>
        <p:nvPicPr>
          <p:cNvPr id="5" name="Picture 4" descr="ma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0" y="1444752"/>
            <a:ext cx="10650931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669280"/>
            <a:ext cx="110550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dirty="0">
                <a:solidFill>
                  <a:srgbClr val="FF6B6B"/>
                </a:solidFill>
                <a:latin typeface="Segoe UI"/>
              </a:rPr>
              <a:t>Q2 answer:  </a:t>
            </a:r>
            <a:r>
              <a:rPr sz="1150" b="0" dirty="0">
                <a:solidFill>
                  <a:srgbClr val="6B7280"/>
                </a:solidFill>
                <a:latin typeface="Segoe UI"/>
              </a:rPr>
              <a:t>total drift 2018→2023 is only 4.1° - smaller than a single year's swing (4.6°). Most year-over-year steps sit inside the bootstrap noise band (2.6-4.3°). NetEase 2018/19 jumps (21.6°/15.2°) are 2 songs compared to 2 songs - not interpretable.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Monthly granularity: fluctuation is the norm, trend is absent</a:t>
            </a:r>
          </a:p>
        </p:txBody>
      </p:sp>
      <p:pic>
        <p:nvPicPr>
          <p:cNvPr id="5" name="Picture 4" descr="map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11055096" cy="3869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5216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Monthly centroids swing 8-23.5° against 2018-08, while yearly centroids (stars) hug the 10° line - the playlist keeps rotating, the mix of styles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5F5E-11F0-2FB0-B44A-30F69826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2F92B0-24C5-1D31-5128-72C40FCAB4D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AA3E0F-FAA2-B661-CE0E-5B66EF41831F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FFA6DB-DF49-BDDC-1F55-2C05EF7FC64A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D56235-C4D5-8394-C33B-B4A13C32EAEE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AA3C2-3AB1-90ED-5C9D-1065EAC06702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6E893-00C6-4E5B-A161-1A2ED24587EC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Insights &amp; Limitations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What we learned — and what we cannot claim.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59370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Segoe UI"/>
              </a:rPr>
              <a:t>INSIGHTS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70632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770632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41064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941064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941064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11496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5111496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11496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Segoe UI"/>
              </a:rPr>
              <a:t>28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54480" y="1673352"/>
            <a:ext cx="9921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Three regime shifts — 2019 · 2020 · 2022, all p &lt; 0.001</a:t>
            </a: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Changepoints in QQ chart </a:t>
            </a:r>
            <a:r>
              <a:rPr sz="1050" b="0" dirty="0" err="1">
                <a:solidFill>
                  <a:srgbClr val="6B7280"/>
                </a:solidFill>
                <a:latin typeface="Segoe UI"/>
              </a:rPr>
              <a:t>behaviour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 line up with the Douyin takeover, COVID-19, and the post-2022 platform split.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2843784"/>
            <a:ext cx="9921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The 2022 structural flip</a:t>
            </a: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Hot ↔ Douyin correlation +0.32 → -0.76; </a:t>
            </a:r>
            <a:r>
              <a:rPr sz="1050" b="0" dirty="0" err="1">
                <a:solidFill>
                  <a:srgbClr val="6B7280"/>
                </a:solidFill>
                <a:latin typeface="Segoe UI"/>
              </a:rPr>
              <a:t>edm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 grew monotonically (0.27 → 0.41) while </a:t>
            </a:r>
            <a:r>
              <a:rPr sz="1050" b="0" dirty="0" err="1">
                <a:solidFill>
                  <a:srgbClr val="6B7280"/>
                </a:solidFill>
                <a:latin typeface="Segoe UI"/>
              </a:rPr>
              <a:t>guofeng</a:t>
            </a:r>
            <a:r>
              <a:rPr sz="1050" b="0" dirty="0">
                <a:solidFill>
                  <a:srgbClr val="6B7280"/>
                </a:solidFill>
                <a:latin typeface="Segoe UI"/>
              </a:rPr>
              <a:t> declined (0.34 → 0.24).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014215"/>
            <a:ext cx="9921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dirty="0">
                <a:solidFill>
                  <a:srgbClr val="10131A"/>
                </a:solidFill>
                <a:latin typeface="Segoe UI"/>
              </a:rPr>
              <a:t>Averages identical, song mixes different</a:t>
            </a:r>
          </a:p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6B7280"/>
                </a:solidFill>
                <a:latin typeface="Segoe UI"/>
              </a:rPr>
              <a:t>349 of 360 titles chart on one platform only, yet their style distributions match (centroid 3.9°, inside the noise band; per-song AUC 0.66).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184648"/>
            <a:ext cx="9921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Vibration in place, not one-way drift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Six-year audio drift 4.1° is smaller than a single year's swing; monthly centroids oscillate 8–23.5° — songs rotate, the mix barely moves.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208776"/>
            <a:ext cx="103327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Segoe UI"/>
              </a:rPr>
              <a:t>Also: COVID-Q1 2020 was a 14-week industry contraction, not listener-driven (surge came W27+); LOF vs Euclidean outliers overlap ~0% — complementary signals.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INSIGHTS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What this analysis can and cannot answer</a:t>
            </a:r>
          </a:p>
        </p:txBody>
      </p:sp>
      <p:pic>
        <p:nvPicPr>
          <p:cNvPr id="5" name="Picture 4" descr="map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5096" cy="3869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77840"/>
            <a:ext cx="110550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Three limitations we must state: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① QQ 2024 H2 audio is missing locally (5/100 chart entries → 3 unique songs), so that year's 10.6° jump is sample collapse;  ② NetEase officially publishes only 1-2 songs for 2018/2019 - no yearly centroid possible;  ③ NetEase has no monthly chart, so monthly fluctuation can only be measured on QQ.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60D6-0F4C-E4AA-7313-9E8FED68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32C6C0-76D9-1EF6-FE9A-F41077A79A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5099CE-8ADA-E697-377F-AAF5E6EDF96E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52B0E1-3333-5116-51F4-F805EDFA3EF1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939B5D-5EBD-08EA-2666-05620FE2A02E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8363C-2F22-12EB-D92F-8F45563C8B78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65DF7-F116-E98A-DE1B-CF9CB28C82B0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Segoe UI"/>
              </a:rPr>
              <a:t>Part5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Segoe UI"/>
              </a:rPr>
              <a:t>Conclusion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C9D1DB"/>
                </a:solidFill>
                <a:latin typeface="Segoe UI"/>
              </a:rPr>
              <a:t>Three answers, future works, references</a:t>
            </a:r>
          </a:p>
        </p:txBody>
      </p:sp>
    </p:spTree>
    <p:extLst>
      <p:ext uri="{BB962C8B-B14F-4D97-AF65-F5344CB8AC3E}">
        <p14:creationId xmlns:p14="http://schemas.microsoft.com/office/powerpoint/2010/main" val="4054412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Three questions, three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5440680" cy="1691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17904"/>
            <a:ext cx="822960" cy="169164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36192"/>
            <a:ext cx="82296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19"/>
            <a:ext cx="4270248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Regime shifts — yes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2019, 2020, 2022 are statistically significant regime shifts in QQ chart behaviour (BIC k = 3, permutation p &lt; 0.001). Hot ↔ Douyin correlation flipped from +0.32 to strongly negative after 2022.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17904"/>
            <a:ext cx="5440680" cy="1691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1344" y="1517904"/>
            <a:ext cx="822960" cy="169164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1344" y="1536192"/>
            <a:ext cx="82296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1645919"/>
            <a:ext cx="4270248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Platform-conditional, not market-wide — yes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The four platforms differ structurally in catalogue freshness and star concentration. QQ is the balanced Chinese platform; Apple Music CN is the most old-catalogue and star-driven.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46704"/>
            <a:ext cx="5440680" cy="1691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346704"/>
            <a:ext cx="822960" cy="1691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364992"/>
            <a:ext cx="82296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4270248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The sound — stable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Average style is indistinguishable across platforms (3.9°, inside the noise band) and years (2018→2023 drift 4.1° &lt; one year's swing). What changes is which songs chart — separable per song (AUC 0.66).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346704"/>
            <a:ext cx="5440680" cy="1691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3346704"/>
            <a:ext cx="822960" cy="16916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81344" y="3364992"/>
            <a:ext cx="82296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3474720"/>
            <a:ext cx="4270248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One pipeline, two lenses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Python fetch + R analysis + CLAP embeddings, reproducible end-to-end. Swap in new charts or audio and every figure regenerates.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212080"/>
            <a:ext cx="11055096" cy="100584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120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DB954"/>
                </a:solidFill>
                <a:latin typeface="Segoe UI"/>
              </a:rPr>
              <a:t>FUTURE WORKS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C9D1DB"/>
                </a:solidFill>
                <a:latin typeface="Segoe UI"/>
              </a:rPr>
              <a:t>①  weekly cross-platform history, once any public source exposes it     ②  per-song play counts (login-gated)     ③  larger licence-clean audio corpus + richer encoders (MERT / Jukebox)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Audio embeddings (CLAP) were listed as future work in the metadata-only draft — delivered in this presentation.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50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Serrà, J. et al. (2012).  </a:t>
            </a:r>
            <a:r>
              <a:rPr sz="1250" b="0">
                <a:solidFill>
                  <a:srgbClr val="6B7280"/>
                </a:solidFill>
                <a:latin typeface="Segoe UI"/>
              </a:rPr>
              <a:t>Measuring the evolution of contemporary western popular music. Scientific Reports.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Mauch, M. et al. (2015).  </a:t>
            </a:r>
            <a:r>
              <a:rPr sz="1250" b="0">
                <a:solidFill>
                  <a:srgbClr val="6B7280"/>
                </a:solidFill>
                <a:latin typeface="Segoe UI"/>
              </a:rPr>
              <a:t>The evolution of popular music: USA 1960–2010. Royal Society Open Science.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Li, Y. et al. (2023).  </a:t>
            </a:r>
            <a:r>
              <a:rPr sz="1250" b="0">
                <a:solidFill>
                  <a:srgbClr val="6B7280"/>
                </a:solidFill>
                <a:latin typeface="Segoe UI"/>
              </a:rPr>
              <a:t>MERT: acoustic music understanding model with large-scale self-supervised training. IJCAI.  (cited for context)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Elizalde, B. et al. (2023).  </a:t>
            </a:r>
            <a:r>
              <a:rPr sz="1250" b="0">
                <a:solidFill>
                  <a:srgbClr val="6B7280"/>
                </a:solidFill>
                <a:latin typeface="Segoe UI"/>
              </a:rPr>
              <a:t>CLAP: learning audio concepts from natural language supervision. ICASSP.  — source of all 512-d audio embeddings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Wu, Y. et al. (2022).  </a:t>
            </a:r>
            <a:r>
              <a:rPr sz="1250" b="0">
                <a:solidFill>
                  <a:srgbClr val="6B7280"/>
                </a:solidFill>
                <a:latin typeface="Segoe UI"/>
              </a:rPr>
              <a:t>HTS-AT: a hierarchical token-semantic audio transformer. ICASSP.  — CLAP's audio encoder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Data &amp; code.  </a:t>
            </a:r>
            <a:r>
              <a:rPr sz="1250" b="0">
                <a:solidFill>
                  <a:srgbClr val="6B7280"/>
                </a:solidFill>
                <a:latin typeface="Segoe UI"/>
              </a:rPr>
              <a:t>QQ / NetEase / Apple public endpoints  ·  R 4.2.3 + renv (69 packages)  ·  pandoc 3.1.13  ·  taste-map figures from r_project/ (R) +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532120"/>
            <a:ext cx="11055096" cy="6400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532120"/>
            <a:ext cx="110550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0131A"/>
                </a:solidFill>
                <a:latin typeface="Segoe UI"/>
              </a:rPr>
              <a:t>Jiang Chuyang (3036589703)  ·  Liu Yibo (3036589636)    —    HKU COMP2501 · Section 1SH · October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0FA9-6EDE-4355-E314-2C4112E5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07318E-5D40-C702-D2E9-954E8D72A0A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52FF05-EB2A-C732-4823-FC9AB606B0AC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0B43C6-F9F8-E907-1CE3-A6195BBC365D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5D17C4-E595-1272-D8D5-93AF33CD9C52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6E0DA-ED93-135F-02A9-06F500EB2134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708F8-365A-4A45-214A-A439141560B0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dirty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dirty="0">
                <a:solidFill>
                  <a:srgbClr val="C9D1DB"/>
                </a:solidFill>
                <a:latin typeface="Segoe UI"/>
              </a:rPr>
              <a:t>Have a nice day with your music player</a:t>
            </a:r>
          </a:p>
        </p:txBody>
      </p:sp>
    </p:spTree>
    <p:extLst>
      <p:ext uri="{BB962C8B-B14F-4D97-AF65-F5344CB8AC3E}">
        <p14:creationId xmlns:p14="http://schemas.microsoft.com/office/powerpoint/2010/main" val="203828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3444</Words>
  <Application>Microsoft Office PowerPoint</Application>
  <PresentationFormat>宽屏</PresentationFormat>
  <Paragraphs>363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等线</vt:lpstr>
      <vt:lpstr>等线 Light</vt:lpstr>
      <vt:lpstr>Arial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艺博 刘</dc:creator>
  <cp:lastModifiedBy>u3658970@connect.hku.hk</cp:lastModifiedBy>
  <cp:revision>6</cp:revision>
  <dcterms:created xsi:type="dcterms:W3CDTF">2026-10-05T15:23:34Z</dcterms:created>
  <dcterms:modified xsi:type="dcterms:W3CDTF">2026-10-06T12:20:18Z</dcterms:modified>
</cp:coreProperties>
</file>