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9" r:id="rId2"/>
    <p:sldId id="271" r:id="rId3"/>
    <p:sldId id="256" r:id="rId4"/>
    <p:sldId id="258" r:id="rId5"/>
    <p:sldId id="280" r:id="rId6"/>
    <p:sldId id="272" r:id="rId7"/>
    <p:sldId id="261" r:id="rId8"/>
    <p:sldId id="279" r:id="rId9"/>
    <p:sldId id="273" r:id="rId10"/>
    <p:sldId id="260" r:id="rId11"/>
    <p:sldId id="274" r:id="rId12"/>
    <p:sldId id="267" r:id="rId13"/>
    <p:sldId id="277" r:id="rId14"/>
    <p:sldId id="275" r:id="rId15"/>
    <p:sldId id="278" r:id="rId16"/>
    <p:sldId id="276" r:id="rId17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48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C9E4CB-7647-41BF-842D-E5D03FFD4467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43A79B-1C95-4C8A-B33A-F2517B51B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807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43A79B-1C95-4C8A-B33A-F2517B51B25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695138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A1F95A-EB7A-7B6A-B825-D5ABAC7895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5CD4681-AC6C-AB66-FAA4-C83BB95D4F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3B5484-E9B5-6772-5DE1-47ECC473D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FF93-9A5A-481B-81BB-74294A87F32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EC4335-B75E-FAAF-F71A-577F728ED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5BCE7D-F711-BE34-16CE-AB4A8424E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AE30-AB84-454F-BFB4-4E7D428479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7213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4ADFDD-BF9A-581F-0411-C5B0866EF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015607-D3A0-276A-C001-06150E130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473782-C025-C195-EE6A-B58C21CEA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FF93-9A5A-481B-81BB-74294A87F32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1867C0-6428-5B4B-BC79-E73896667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0F13E3-799C-987D-FCAE-9F74EC67A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AE30-AB84-454F-BFB4-4E7D428479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902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4EE567-D0C9-08EB-953C-14DC6A0F8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3064E7-1877-C699-1062-4A864D10A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090FDE-33AF-2B89-3C02-5F1C0AD49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FF93-9A5A-481B-81BB-74294A87F32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792064-1FCA-F7A7-C6AA-564F2D50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38A16F-30C2-4B13-8AE1-815509EE0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AE30-AB84-454F-BFB4-4E7D428479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503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660DE7-58B0-6E53-B5E7-03B0B03B9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83C1A5-E1AC-C7CD-E9AB-27E39B83DD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853437F-F280-C65A-699D-15ED9655E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93726F-81F3-7E85-C4E6-E241D5E3A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FF93-9A5A-481B-81BB-74294A87F32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4284F0-D125-5F8D-7622-582CBC272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853044-B2B6-68A7-B2DD-961BCC67C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AE30-AB84-454F-BFB4-4E7D428479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107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3D2CF3-C7A8-28D5-D9E9-468346DB8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938F0A-DD3F-DE9F-86F2-50CB048F4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2D8D8F-3550-2464-DCCE-59A6E70D1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4414DBD-04FC-D987-1F74-E658D39001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EC5F960-84DB-D1B5-A95C-BCC7756E29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A91CDB0-1105-9962-A045-FEEC64C66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FF93-9A5A-481B-81BB-74294A87F32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9C84BEF-2C86-3C93-2F6E-52733B915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7B326CE-6A01-8505-DDB1-9A3EA7E76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AE30-AB84-454F-BFB4-4E7D428479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3427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92D7E7-93E7-DCC3-A4BD-A3CDA592C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2AA164-F793-3526-BACE-90BFACE5E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FF93-9A5A-481B-81BB-74294A87F32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198A285-C074-77FC-4E4D-7611C18F1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7F8BD3F-694C-0D50-26EC-15DC17279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AE30-AB84-454F-BFB4-4E7D428479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412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03226C3-EF42-3C91-ED86-A1F4E5B05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FF93-9A5A-481B-81BB-74294A87F32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48DEB1C-1F73-52AC-4A94-8E428A4E5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F28BD5-8FFE-AA8E-D433-3A9133715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AE30-AB84-454F-BFB4-4E7D428479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771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B7B411-BFE5-FFDE-C450-798F54CE1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08AC52-063B-8EBE-476C-3479DDE51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0E1C70-397B-7F8A-B318-035118364B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36C6ED-3CE0-0819-C534-B6A946A58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FF93-9A5A-481B-81BB-74294A87F32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23B73C-140E-E312-862F-B1DFBEC5F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A942AA-7EA4-9AE2-7881-42679B8F7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AE30-AB84-454F-BFB4-4E7D428479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6782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9950CA-4F69-25AB-4787-C9D5C17CB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1229360-18BC-C66A-EF47-37E265594E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417C99-648B-3DAF-932A-7A8F77D72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754D30-1DE3-1980-3756-16369D7D8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FF93-9A5A-481B-81BB-74294A87F32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3D6B6E-1F21-ABC0-259C-1DB846FBC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0C8743-086D-1C91-3E48-D46C1D0BC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AE30-AB84-454F-BFB4-4E7D428479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303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0DEA56-201A-0818-2F12-AE656B82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30A1421-E9D8-2C3E-F5D7-6EDA10D5F9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2D5EB5-34E9-6AA3-AA58-74DADFE49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FF93-9A5A-481B-81BB-74294A87F32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622684-12CE-ED57-25F6-4747FA59C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C74068-62FE-55D8-1F00-491D1B4BF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AE30-AB84-454F-BFB4-4E7D428479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3457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A2EE9FC-4245-A35E-001C-5AAADF037A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343677-4861-F280-A11A-639551450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52C284-400A-552B-DB0F-4B5C2D564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FF93-9A5A-481B-81BB-74294A87F32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397829-5627-D408-7E12-249ED711B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BAA1CF-5410-2195-0E26-B407A77EC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AE30-AB84-454F-BFB4-4E7D428479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57793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2E7C269-2CEB-724A-23A5-EF2F39797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2FBEBF-F8B6-B0EC-DE4B-904BF1D62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F09ED6-693E-7177-B970-14DFF57442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F8FF93-9A5A-481B-81BB-74294A87F32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4170D7-322F-5D62-0A29-6F44DAF4A9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B35352-E5E3-148B-0EAF-244E72C23E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FAE30-AB84-454F-BFB4-4E7D428479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9516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4206240" cy="4206240"/>
          </a:xfrm>
          <a:prstGeom prst="ellipse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3108960"/>
            <a:ext cx="2926080" cy="292608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869680" y="5029200"/>
            <a:ext cx="1828800" cy="1828800"/>
          </a:xfrm>
          <a:prstGeom prst="ellipse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8778240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417320"/>
            <a:ext cx="7863840" cy="2026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lang="en-US" sz="5200" b="1" i="0" dirty="0">
              <a:solidFill>
                <a:srgbClr val="FFFFFF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5200" b="1" i="0" dirty="0">
                <a:solidFill>
                  <a:srgbClr val="FFFFFF"/>
                </a:solidFill>
                <a:latin typeface="Segoe UI"/>
              </a:rPr>
              <a:t>Listen to the Long Now</a:t>
            </a:r>
            <a:endParaRPr sz="5200" b="1" i="0" dirty="0">
              <a:solidFill>
                <a:srgbClr val="FFFFFF"/>
              </a:solidFill>
              <a:latin typeface="Segoe UI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0"/>
              </a:spcAft>
            </a:pPr>
            <a:r>
              <a:rPr lang="en-US" sz="2400" b="0" i="0" dirty="0">
                <a:solidFill>
                  <a:srgbClr val="C9D1DB"/>
                </a:solidFill>
                <a:latin typeface="Segoe UI"/>
              </a:rPr>
              <a:t>Chinese Chart – Listener Behavior Across Years</a:t>
            </a:r>
            <a:endParaRPr sz="2400" b="0" i="0" dirty="0">
              <a:solidFill>
                <a:srgbClr val="C9D1DB"/>
              </a:solidFill>
              <a:latin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04088" y="5349240"/>
            <a:ext cx="7863840" cy="4064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6B7280"/>
                </a:solidFill>
                <a:latin typeface="Segoe UI"/>
              </a:rPr>
              <a:t>Presented by  </a:t>
            </a:r>
            <a:r>
              <a:rPr lang="en-US" sz="1200" b="1" dirty="0">
                <a:solidFill>
                  <a:srgbClr val="FFFFFF"/>
                </a:solidFill>
                <a:latin typeface="Segoe UI"/>
              </a:rPr>
              <a:t>Jiang Chuyang   Liu Yibo</a:t>
            </a:r>
            <a:endParaRPr lang="en-US" sz="1200" b="0" dirty="0">
              <a:solidFill>
                <a:srgbClr val="6B7280"/>
              </a:solidFill>
              <a:latin typeface="Segoe UI"/>
            </a:endParaRPr>
          </a:p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6B7280"/>
                </a:solidFill>
                <a:latin typeface="Segoe UI"/>
              </a:rPr>
              <a:t>	 </a:t>
            </a:r>
            <a:r>
              <a:rPr sz="1200" b="1" dirty="0">
                <a:solidFill>
                  <a:srgbClr val="FFFFFF"/>
                </a:solidFill>
                <a:latin typeface="Segoe UI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20624"/>
            <a:ext cx="384048" cy="6858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B7280"/>
                </a:solidFill>
                <a:latin typeface="Segoe U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131A"/>
                </a:solidFill>
                <a:latin typeface="Segoe UI"/>
              </a:rPr>
              <a:t>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11057839" cy="786384"/>
          </a:xfrm>
          <a:prstGeom prst="roundRect">
            <a:avLst>
              <a:gd name="adj" fmla="val 9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9536" y="1572768"/>
            <a:ext cx="9144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DB954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1368" y="1844644"/>
            <a:ext cx="9509760" cy="2426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 dirty="0">
                <a:solidFill>
                  <a:srgbClr val="10131A"/>
                </a:solidFill>
                <a:latin typeface="Segoe UI"/>
              </a:rPr>
              <a:t>Project Background      </a:t>
            </a:r>
            <a:r>
              <a:rPr lang="en-US" sz="1500" dirty="0">
                <a:solidFill>
                  <a:srgbClr val="6B7280"/>
                </a:solidFill>
                <a:latin typeface="Segoe UI"/>
              </a:rPr>
              <a:t>What is it? Why is it important?</a:t>
            </a:r>
            <a:endParaRPr sz="1500" dirty="0">
              <a:solidFill>
                <a:srgbClr val="6B7280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66928" y="2478024"/>
            <a:ext cx="11057839" cy="786384"/>
          </a:xfrm>
          <a:prstGeom prst="roundRect">
            <a:avLst>
              <a:gd name="adj" fmla="val 9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2478024"/>
            <a:ext cx="9144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DB954"/>
                </a:solidFill>
                <a:latin typeface="Segoe U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1368" y="2749900"/>
            <a:ext cx="9509760" cy="2426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 dirty="0">
                <a:solidFill>
                  <a:srgbClr val="10131A"/>
                </a:solidFill>
                <a:latin typeface="Segoe UI"/>
              </a:rPr>
              <a:t>Method and Pipeline      </a:t>
            </a:r>
            <a:r>
              <a:rPr lang="en-US" sz="1500" dirty="0">
                <a:solidFill>
                  <a:srgbClr val="6B7280"/>
                </a:solidFill>
                <a:latin typeface="Segoe UI"/>
              </a:rPr>
              <a:t>How a mp3 file becomes a vector?</a:t>
            </a:r>
            <a:endParaRPr sz="1500" dirty="0">
              <a:solidFill>
                <a:srgbClr val="6B7280"/>
              </a:solidFill>
              <a:latin typeface="Segoe U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" y="3383280"/>
            <a:ext cx="11057839" cy="786384"/>
          </a:xfrm>
          <a:prstGeom prst="roundRect">
            <a:avLst>
              <a:gd name="adj" fmla="val 9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3383280"/>
            <a:ext cx="9144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DB954"/>
                </a:solidFill>
                <a:latin typeface="Segoe U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1368" y="3655156"/>
            <a:ext cx="9509760" cy="2426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0131A"/>
                </a:solidFill>
                <a:latin typeface="Segoe UI"/>
              </a:rPr>
              <a:t>Data Analysis</a:t>
            </a:r>
            <a:r>
              <a:rPr sz="1500" b="0" dirty="0">
                <a:solidFill>
                  <a:srgbClr val="6B7280"/>
                </a:solidFill>
                <a:latin typeface="Segoe UI"/>
              </a:rPr>
              <a:t>     </a:t>
            </a:r>
            <a:r>
              <a:rPr lang="en-US" sz="1500" dirty="0">
                <a:solidFill>
                  <a:srgbClr val="6B7280"/>
                </a:solidFill>
                <a:latin typeface="Segoe UI"/>
              </a:rPr>
              <a:t>V</a:t>
            </a:r>
            <a:r>
              <a:rPr sz="1500" b="0" dirty="0">
                <a:solidFill>
                  <a:srgbClr val="6B7280"/>
                </a:solidFill>
                <a:latin typeface="Segoe UI"/>
              </a:rPr>
              <a:t>isual stories from the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288536"/>
            <a:ext cx="11057839" cy="786384"/>
          </a:xfrm>
          <a:prstGeom prst="roundRect">
            <a:avLst>
              <a:gd name="adj" fmla="val 9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4288536"/>
            <a:ext cx="9144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DB954"/>
                </a:solidFill>
                <a:latin typeface="Segoe U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1368" y="4288536"/>
            <a:ext cx="95097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0131A"/>
                </a:solidFill>
                <a:latin typeface="Segoe UI"/>
              </a:rPr>
              <a:t>Insights &amp; Limitations</a:t>
            </a:r>
            <a:r>
              <a:rPr sz="1500" b="0" dirty="0">
                <a:solidFill>
                  <a:srgbClr val="6B7280"/>
                </a:solidFill>
                <a:latin typeface="Segoe UI"/>
              </a:rPr>
              <a:t>     What we learned — and what we cannot claim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193792"/>
            <a:ext cx="11057839" cy="786384"/>
          </a:xfrm>
          <a:prstGeom prst="roundRect">
            <a:avLst>
              <a:gd name="adj" fmla="val 9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" y="5193792"/>
            <a:ext cx="9144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DB954"/>
                </a:solidFill>
                <a:latin typeface="Segoe U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1368" y="5465668"/>
            <a:ext cx="9509760" cy="2426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0131A"/>
                </a:solidFill>
                <a:latin typeface="Segoe UI"/>
              </a:rPr>
              <a:t>Conclusion </a:t>
            </a:r>
            <a:r>
              <a:rPr lang="en-US" sz="1500" b="1" dirty="0">
                <a:solidFill>
                  <a:srgbClr val="10131A"/>
                </a:solidFill>
                <a:latin typeface="Segoe UI"/>
              </a:rPr>
              <a:t>    </a:t>
            </a:r>
            <a:r>
              <a:rPr sz="1500" b="0" dirty="0">
                <a:solidFill>
                  <a:srgbClr val="6B7280"/>
                </a:solidFill>
                <a:latin typeface="Segoe UI"/>
              </a:rPr>
              <a:t>Takeaways and next steps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382512"/>
            <a:ext cx="11057839" cy="9525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6446520"/>
            <a:ext cx="105091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076127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B728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4206240" cy="4206240"/>
          </a:xfrm>
          <a:prstGeom prst="ellipse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3108960"/>
            <a:ext cx="2926080" cy="292608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869680" y="5029200"/>
            <a:ext cx="1828800" cy="1828800"/>
          </a:xfrm>
          <a:prstGeom prst="ellipse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8778240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417320"/>
            <a:ext cx="7863840" cy="2481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lang="en-US" sz="1300" b="1" i="0" dirty="0">
                <a:solidFill>
                  <a:srgbClr val="1DB954"/>
                </a:solidFill>
                <a:latin typeface="Segoe UI"/>
              </a:rPr>
              <a:t> </a:t>
            </a:r>
            <a:endParaRPr sz="1300" b="1" i="0" dirty="0">
              <a:solidFill>
                <a:srgbClr val="1DB954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5200" b="1" i="0" dirty="0">
                <a:solidFill>
                  <a:srgbClr val="FFFFFF"/>
                </a:solidFill>
                <a:latin typeface="Segoe UI"/>
              </a:rPr>
              <a:t>Part1</a:t>
            </a:r>
          </a:p>
          <a:p>
            <a:pPr>
              <a:spcAft>
                <a:spcPts val="200"/>
              </a:spcAft>
            </a:pPr>
            <a:r>
              <a:rPr lang="en-US" altLang="zh-CN" sz="5200" b="1" dirty="0">
                <a:solidFill>
                  <a:srgbClr val="FFFFFF"/>
                </a:solidFill>
                <a:latin typeface="Segoe UI"/>
              </a:rPr>
              <a:t>Project Background</a:t>
            </a:r>
          </a:p>
          <a:p>
            <a:pPr>
              <a:spcAft>
                <a:spcPts val="200"/>
              </a:spcAft>
            </a:pPr>
            <a:r>
              <a:rPr lang="en-US" altLang="zh-CN" sz="2400" dirty="0">
                <a:solidFill>
                  <a:srgbClr val="C9D1DB"/>
                </a:solidFill>
                <a:latin typeface="Segoe UI"/>
              </a:rPr>
              <a:t>What is it? Why is it important?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20624"/>
            <a:ext cx="384048" cy="6858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1860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 b="1" i="0" dirty="0">
                <a:solidFill>
                  <a:srgbClr val="6B7280"/>
                </a:solidFill>
                <a:latin typeface="Segoe UI"/>
              </a:rPr>
              <a:t>Background</a:t>
            </a:r>
            <a:endParaRPr sz="1150" b="1" i="0" dirty="0">
              <a:solidFill>
                <a:srgbClr val="6B7280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7839" cy="4367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00" b="1" i="0" dirty="0">
                <a:solidFill>
                  <a:srgbClr val="10131A"/>
                </a:solidFill>
                <a:latin typeface="Segoe UI"/>
              </a:rPr>
              <a:t>Motivation &amp; Why it matters?</a:t>
            </a:r>
            <a:endParaRPr sz="2700" b="1" i="0" dirty="0">
              <a:solidFill>
                <a:srgbClr val="10131A"/>
              </a:solidFill>
              <a:latin typeface="Segoe U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928" y="6446520"/>
            <a:ext cx="105091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076127" y="6446520"/>
            <a:ext cx="548640" cy="153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50" b="1" i="0" dirty="0">
                <a:solidFill>
                  <a:srgbClr val="6B7280"/>
                </a:solidFill>
                <a:latin typeface="Segoe UI"/>
              </a:rPr>
              <a:t>4</a:t>
            </a:r>
            <a:endParaRPr sz="950" b="1" i="0" dirty="0">
              <a:solidFill>
                <a:srgbClr val="6B7280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B7044-CAF1-EE34-98DA-BBA35C3A0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009422-7CEC-449F-5CD6-8A8E4F8B4046}"/>
              </a:ext>
            </a:extLst>
          </p:cNvPr>
          <p:cNvSpPr/>
          <p:nvPr/>
        </p:nvSpPr>
        <p:spPr>
          <a:xfrm>
            <a:off x="566928" y="420624"/>
            <a:ext cx="384048" cy="6858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56DD01-EE78-82EF-36DA-A170E5A48809}"/>
              </a:ext>
            </a:extLst>
          </p:cNvPr>
          <p:cNvSpPr txBox="1"/>
          <p:nvPr/>
        </p:nvSpPr>
        <p:spPr>
          <a:xfrm>
            <a:off x="566928" y="566928"/>
            <a:ext cx="11057839" cy="1860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 b="1" i="0" dirty="0">
                <a:solidFill>
                  <a:srgbClr val="6B7280"/>
                </a:solidFill>
                <a:latin typeface="Segoe UI"/>
              </a:rPr>
              <a:t>Background</a:t>
            </a:r>
            <a:endParaRPr sz="1150" b="1" i="0" dirty="0">
              <a:solidFill>
                <a:srgbClr val="6B7280"/>
              </a:solidFill>
              <a:latin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D765C6-A409-80AA-6E3B-5400698EB898}"/>
              </a:ext>
            </a:extLst>
          </p:cNvPr>
          <p:cNvSpPr txBox="1"/>
          <p:nvPr/>
        </p:nvSpPr>
        <p:spPr>
          <a:xfrm>
            <a:off x="566928" y="804672"/>
            <a:ext cx="11057839" cy="4367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00" b="1" dirty="0">
                <a:solidFill>
                  <a:srgbClr val="10131A"/>
                </a:solidFill>
                <a:latin typeface="Segoe UI"/>
              </a:rPr>
              <a:t>Information Resources</a:t>
            </a:r>
            <a:endParaRPr sz="2700" b="1" i="0" dirty="0">
              <a:solidFill>
                <a:srgbClr val="10131A"/>
              </a:solidFill>
              <a:latin typeface="Segoe U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3A20BB-83E9-52CC-A739-BA6DFDA643EC}"/>
              </a:ext>
            </a:extLst>
          </p:cNvPr>
          <p:cNvSpPr txBox="1"/>
          <p:nvPr/>
        </p:nvSpPr>
        <p:spPr>
          <a:xfrm>
            <a:off x="566928" y="6446520"/>
            <a:ext cx="105091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8FAFE6-59C9-A717-C06D-2E852430F3F3}"/>
              </a:ext>
            </a:extLst>
          </p:cNvPr>
          <p:cNvSpPr txBox="1"/>
          <p:nvPr/>
        </p:nvSpPr>
        <p:spPr>
          <a:xfrm>
            <a:off x="11076127" y="6446520"/>
            <a:ext cx="548640" cy="153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50" b="1" i="0" dirty="0">
                <a:solidFill>
                  <a:srgbClr val="6B7280"/>
                </a:solidFill>
                <a:latin typeface="Segoe UI"/>
              </a:rPr>
              <a:t>4</a:t>
            </a:r>
            <a:endParaRPr sz="950" b="1" i="0" dirty="0">
              <a:solidFill>
                <a:srgbClr val="6B7280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653746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095F3-0F03-0D69-DE1B-EC4B34F47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BF36DF-C36A-D745-0E0D-CC4CE4D728E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EE79AFA-A931-31D3-C682-A63532A65843}"/>
              </a:ext>
            </a:extLst>
          </p:cNvPr>
          <p:cNvSpPr/>
          <p:nvPr/>
        </p:nvSpPr>
        <p:spPr>
          <a:xfrm>
            <a:off x="9692640" y="-1005840"/>
            <a:ext cx="4206240" cy="4206240"/>
          </a:xfrm>
          <a:prstGeom prst="ellipse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1E3A464-E257-529C-EDFE-07F6BDEC3F47}"/>
              </a:ext>
            </a:extLst>
          </p:cNvPr>
          <p:cNvSpPr/>
          <p:nvPr/>
        </p:nvSpPr>
        <p:spPr>
          <a:xfrm>
            <a:off x="10881360" y="3108960"/>
            <a:ext cx="2926080" cy="292608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FDF8CA6-30E9-A564-5979-6440B5D22A8D}"/>
              </a:ext>
            </a:extLst>
          </p:cNvPr>
          <p:cNvSpPr/>
          <p:nvPr/>
        </p:nvSpPr>
        <p:spPr>
          <a:xfrm>
            <a:off x="8869680" y="5029200"/>
            <a:ext cx="1828800" cy="1828800"/>
          </a:xfrm>
          <a:prstGeom prst="ellipse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88F21F-E6A4-7B6B-BDBB-CB73D08777C1}"/>
              </a:ext>
            </a:extLst>
          </p:cNvPr>
          <p:cNvSpPr/>
          <p:nvPr/>
        </p:nvSpPr>
        <p:spPr>
          <a:xfrm>
            <a:off x="0" y="0"/>
            <a:ext cx="8778240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5AD993-E05D-812C-4D6D-005EA8C4971D}"/>
              </a:ext>
            </a:extLst>
          </p:cNvPr>
          <p:cNvSpPr txBox="1"/>
          <p:nvPr/>
        </p:nvSpPr>
        <p:spPr>
          <a:xfrm>
            <a:off x="704088" y="1417320"/>
            <a:ext cx="7863840" cy="2481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lang="en-US" sz="1300" b="1" i="0" dirty="0">
                <a:solidFill>
                  <a:srgbClr val="1DB954"/>
                </a:solidFill>
                <a:latin typeface="Segoe UI"/>
              </a:rPr>
              <a:t> </a:t>
            </a:r>
            <a:endParaRPr sz="1300" b="1" i="0" dirty="0">
              <a:solidFill>
                <a:srgbClr val="1DB954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5200" b="1" i="0" dirty="0">
                <a:solidFill>
                  <a:srgbClr val="FFFFFF"/>
                </a:solidFill>
                <a:latin typeface="Segoe UI"/>
              </a:rPr>
              <a:t>Part2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5200" b="1" i="0" dirty="0">
                <a:solidFill>
                  <a:srgbClr val="FFFFFF"/>
                </a:solidFill>
                <a:latin typeface="Segoe UI"/>
              </a:rPr>
              <a:t>Method and Pipeline</a:t>
            </a:r>
          </a:p>
          <a:p>
            <a:pPr>
              <a:spcAft>
                <a:spcPts val="200"/>
              </a:spcAft>
            </a:pPr>
            <a:r>
              <a:rPr lang="en-US" altLang="zh-CN" sz="2400" dirty="0">
                <a:solidFill>
                  <a:srgbClr val="C9D1DB"/>
                </a:solidFill>
                <a:latin typeface="Segoe UI"/>
              </a:rPr>
              <a:t>How a mp3 file becomes a vector?</a:t>
            </a:r>
            <a:endParaRPr sz="2400" dirty="0">
              <a:solidFill>
                <a:srgbClr val="C9D1DB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919119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20624"/>
            <a:ext cx="384048" cy="68580"/>
          </a:xfrm>
          <a:prstGeom prst="rect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1860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 b="1" i="0" dirty="0">
                <a:solidFill>
                  <a:srgbClr val="6B7280"/>
                </a:solidFill>
                <a:latin typeface="Segoe UI"/>
              </a:rPr>
              <a:t>Method and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dirty="0">
                <a:solidFill>
                  <a:srgbClr val="10131A"/>
                </a:solidFill>
                <a:latin typeface="Segoe UI"/>
              </a:rPr>
              <a:t>The Analytical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11057839" cy="804672"/>
          </a:xfrm>
          <a:prstGeom prst="roundRect">
            <a:avLst>
              <a:gd name="adj" fmla="val 9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804672" cy="804672"/>
          </a:xfrm>
          <a:prstGeom prst="roundRect">
            <a:avLst>
              <a:gd name="adj" fmla="val 9000"/>
            </a:avLst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80467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24912"/>
            <a:ext cx="11057839" cy="804672"/>
          </a:xfrm>
          <a:prstGeom prst="roundRect">
            <a:avLst>
              <a:gd name="adj" fmla="val 9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6928" y="2724912"/>
            <a:ext cx="804672" cy="804672"/>
          </a:xfrm>
          <a:prstGeom prst="roundRect">
            <a:avLst>
              <a:gd name="adj" fmla="val 9000"/>
            </a:avLst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2724912"/>
            <a:ext cx="80467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621024"/>
            <a:ext cx="11057839" cy="804672"/>
          </a:xfrm>
          <a:prstGeom prst="roundRect">
            <a:avLst>
              <a:gd name="adj" fmla="val 9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3621024"/>
            <a:ext cx="804672" cy="804672"/>
          </a:xfrm>
          <a:prstGeom prst="roundRect">
            <a:avLst>
              <a:gd name="adj" fmla="val 9000"/>
            </a:avLst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3621024"/>
            <a:ext cx="80467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17136"/>
            <a:ext cx="11057839" cy="804672"/>
          </a:xfrm>
          <a:prstGeom prst="roundRect">
            <a:avLst>
              <a:gd name="adj" fmla="val 9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66928" y="4517136"/>
            <a:ext cx="804672" cy="804672"/>
          </a:xfrm>
          <a:prstGeom prst="roundRect">
            <a:avLst>
              <a:gd name="adj" fmla="val 9000"/>
            </a:avLst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4517136"/>
            <a:ext cx="80467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413248"/>
            <a:ext cx="11057839" cy="804672"/>
          </a:xfrm>
          <a:prstGeom prst="roundRect">
            <a:avLst>
              <a:gd name="adj" fmla="val 9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66928" y="5413248"/>
            <a:ext cx="804672" cy="804672"/>
          </a:xfrm>
          <a:prstGeom prst="roundRect">
            <a:avLst>
              <a:gd name="adj" fmla="val 9000"/>
            </a:avLst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5413248"/>
            <a:ext cx="80467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6382512"/>
            <a:ext cx="11057839" cy="9525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076127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B728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7B3B2-9FE1-38A2-22FA-06A919D1F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05FF92-93B9-5D95-3209-CC89D0899FAD}"/>
              </a:ext>
            </a:extLst>
          </p:cNvPr>
          <p:cNvSpPr/>
          <p:nvPr/>
        </p:nvSpPr>
        <p:spPr>
          <a:xfrm>
            <a:off x="566928" y="420624"/>
            <a:ext cx="384048" cy="68580"/>
          </a:xfrm>
          <a:prstGeom prst="rect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5BE339-759C-B10B-6403-E546905CCA5B}"/>
              </a:ext>
            </a:extLst>
          </p:cNvPr>
          <p:cNvSpPr txBox="1"/>
          <p:nvPr/>
        </p:nvSpPr>
        <p:spPr>
          <a:xfrm>
            <a:off x="566928" y="566928"/>
            <a:ext cx="11057839" cy="1860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 b="1" i="0" dirty="0">
                <a:solidFill>
                  <a:srgbClr val="6B7280"/>
                </a:solidFill>
                <a:latin typeface="Segoe UI"/>
              </a:rPr>
              <a:t>Method and Pipeline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1D8221-FC49-3A50-2BF0-38BD491892ED}"/>
              </a:ext>
            </a:extLst>
          </p:cNvPr>
          <p:cNvSpPr txBox="1"/>
          <p:nvPr/>
        </p:nvSpPr>
        <p:spPr>
          <a:xfrm>
            <a:off x="566928" y="804672"/>
            <a:ext cx="11057839" cy="4367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00" b="1" i="0" dirty="0">
                <a:solidFill>
                  <a:srgbClr val="10131A"/>
                </a:solidFill>
                <a:latin typeface="Segoe UI"/>
              </a:rPr>
              <a:t>Realization via Scripts</a:t>
            </a:r>
            <a:endParaRPr sz="2700" b="1" i="0" dirty="0">
              <a:solidFill>
                <a:srgbClr val="10131A"/>
              </a:solidFill>
              <a:latin typeface="Segoe U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735FBC-2446-4394-CF1A-262C3700409B}"/>
              </a:ext>
            </a:extLst>
          </p:cNvPr>
          <p:cNvSpPr txBox="1"/>
          <p:nvPr/>
        </p:nvSpPr>
        <p:spPr>
          <a:xfrm>
            <a:off x="11076127" y="6446520"/>
            <a:ext cx="548640" cy="153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50" b="1" i="0" dirty="0">
                <a:solidFill>
                  <a:srgbClr val="6B7280"/>
                </a:solidFill>
                <a:latin typeface="Segoe UI"/>
              </a:rPr>
              <a:t>7</a:t>
            </a:r>
            <a:endParaRPr sz="950" b="1" i="0" dirty="0">
              <a:solidFill>
                <a:srgbClr val="6B7280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895909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2DB83-32D2-3D5F-0F8D-314AC5061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29450F-46E1-7286-56AE-02349FB669D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7874CB9-A06A-CC58-4CA5-7FAC7A4D73A6}"/>
              </a:ext>
            </a:extLst>
          </p:cNvPr>
          <p:cNvSpPr/>
          <p:nvPr/>
        </p:nvSpPr>
        <p:spPr>
          <a:xfrm>
            <a:off x="9692640" y="-1005840"/>
            <a:ext cx="4206240" cy="4206240"/>
          </a:xfrm>
          <a:prstGeom prst="ellipse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B947778-376D-DB35-844F-68A2D2331957}"/>
              </a:ext>
            </a:extLst>
          </p:cNvPr>
          <p:cNvSpPr/>
          <p:nvPr/>
        </p:nvSpPr>
        <p:spPr>
          <a:xfrm>
            <a:off x="10881360" y="3108960"/>
            <a:ext cx="2926080" cy="292608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68B8734-FEDA-9AB8-DA07-C5847E02E272}"/>
              </a:ext>
            </a:extLst>
          </p:cNvPr>
          <p:cNvSpPr/>
          <p:nvPr/>
        </p:nvSpPr>
        <p:spPr>
          <a:xfrm>
            <a:off x="8869680" y="5029200"/>
            <a:ext cx="1828800" cy="1828800"/>
          </a:xfrm>
          <a:prstGeom prst="ellipse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122474-0777-8D9F-2773-C20436B6ED94}"/>
              </a:ext>
            </a:extLst>
          </p:cNvPr>
          <p:cNvSpPr/>
          <p:nvPr/>
        </p:nvSpPr>
        <p:spPr>
          <a:xfrm>
            <a:off x="0" y="0"/>
            <a:ext cx="8778240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AE381F-12AD-6C8A-BAFA-9FB010301E51}"/>
              </a:ext>
            </a:extLst>
          </p:cNvPr>
          <p:cNvSpPr txBox="1"/>
          <p:nvPr/>
        </p:nvSpPr>
        <p:spPr>
          <a:xfrm>
            <a:off x="704087" y="1417320"/>
            <a:ext cx="8561527" cy="2481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lang="en-US" sz="1300" b="1" i="0" dirty="0">
                <a:solidFill>
                  <a:srgbClr val="1DB954"/>
                </a:solidFill>
                <a:latin typeface="Segoe UI"/>
              </a:rPr>
              <a:t> </a:t>
            </a:r>
            <a:endParaRPr sz="1300" b="1" i="0" dirty="0">
              <a:solidFill>
                <a:srgbClr val="1DB954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5200" b="1" i="0" dirty="0">
                <a:solidFill>
                  <a:srgbClr val="FFFFFF"/>
                </a:solidFill>
                <a:latin typeface="Segoe UI"/>
              </a:rPr>
              <a:t>Part3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5200" b="1" i="0" dirty="0">
                <a:solidFill>
                  <a:srgbClr val="FFFFFF"/>
                </a:solidFill>
                <a:latin typeface="Segoe UI"/>
              </a:rPr>
              <a:t>Data Analysis</a:t>
            </a:r>
          </a:p>
          <a:p>
            <a:pPr>
              <a:spcAft>
                <a:spcPts val="200"/>
              </a:spcAft>
            </a:pPr>
            <a:r>
              <a:rPr lang="en-US" altLang="zh-CN" sz="2400" dirty="0">
                <a:solidFill>
                  <a:srgbClr val="C9D1DB"/>
                </a:solidFill>
                <a:latin typeface="Segoe UI"/>
              </a:rPr>
              <a:t>Visual stories from the data.</a:t>
            </a:r>
            <a:endParaRPr sz="2400" dirty="0">
              <a:solidFill>
                <a:srgbClr val="C9D1DB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217683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20624"/>
            <a:ext cx="384048" cy="6858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1860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 b="1" i="0" dirty="0">
                <a:solidFill>
                  <a:srgbClr val="6B7280"/>
                </a:solidFill>
                <a:latin typeface="Segoe UI"/>
              </a:rPr>
              <a:t>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131A"/>
                </a:solidFill>
                <a:latin typeface="Segoe UI"/>
              </a:rPr>
              <a:t>The Dataset at a Glance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76127" y="6446520"/>
            <a:ext cx="548640" cy="153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50" b="1" i="0" dirty="0">
                <a:solidFill>
                  <a:srgbClr val="6B7280"/>
                </a:solidFill>
                <a:latin typeface="Segoe UI"/>
              </a:rPr>
              <a:t>9</a:t>
            </a:r>
            <a:endParaRPr sz="950" b="1" i="0" dirty="0">
              <a:solidFill>
                <a:srgbClr val="6B7280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05F5E-11F0-2FB0-B44A-30F698264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2F92B0-24C5-1D31-5128-72C40FCAB4D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6AA3E0F-FAA2-B661-CE0E-5B66EF41831F}"/>
              </a:ext>
            </a:extLst>
          </p:cNvPr>
          <p:cNvSpPr/>
          <p:nvPr/>
        </p:nvSpPr>
        <p:spPr>
          <a:xfrm>
            <a:off x="9692640" y="-1005840"/>
            <a:ext cx="4206240" cy="4206240"/>
          </a:xfrm>
          <a:prstGeom prst="ellipse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DFFA6DB-DF49-BDDC-1F55-2C05EF7FC64A}"/>
              </a:ext>
            </a:extLst>
          </p:cNvPr>
          <p:cNvSpPr/>
          <p:nvPr/>
        </p:nvSpPr>
        <p:spPr>
          <a:xfrm>
            <a:off x="10881360" y="3108960"/>
            <a:ext cx="2926080" cy="292608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0D56235-C4D5-8394-C33B-B4A13C32EAEE}"/>
              </a:ext>
            </a:extLst>
          </p:cNvPr>
          <p:cNvSpPr/>
          <p:nvPr/>
        </p:nvSpPr>
        <p:spPr>
          <a:xfrm>
            <a:off x="8869680" y="5029200"/>
            <a:ext cx="1828800" cy="1828800"/>
          </a:xfrm>
          <a:prstGeom prst="ellipse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EAA3C2-3AB1-90ED-5C9D-1065EAC06702}"/>
              </a:ext>
            </a:extLst>
          </p:cNvPr>
          <p:cNvSpPr/>
          <p:nvPr/>
        </p:nvSpPr>
        <p:spPr>
          <a:xfrm>
            <a:off x="0" y="0"/>
            <a:ext cx="8778240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B6E893-00C6-4E5B-A161-1A2ED24587EC}"/>
              </a:ext>
            </a:extLst>
          </p:cNvPr>
          <p:cNvSpPr txBox="1"/>
          <p:nvPr/>
        </p:nvSpPr>
        <p:spPr>
          <a:xfrm>
            <a:off x="704088" y="1417320"/>
            <a:ext cx="7863840" cy="2481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lang="en-US" sz="1300" b="1" i="0" dirty="0">
                <a:solidFill>
                  <a:srgbClr val="1DB954"/>
                </a:solidFill>
                <a:latin typeface="Segoe UI"/>
              </a:rPr>
              <a:t> </a:t>
            </a:r>
            <a:endParaRPr sz="1300" b="1" i="0" dirty="0">
              <a:solidFill>
                <a:srgbClr val="1DB954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5200" b="1" i="0" dirty="0">
                <a:solidFill>
                  <a:srgbClr val="FFFFFF"/>
                </a:solidFill>
                <a:latin typeface="Segoe UI"/>
              </a:rPr>
              <a:t>Part4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5200" b="1" i="0" dirty="0">
                <a:solidFill>
                  <a:srgbClr val="FFFFFF"/>
                </a:solidFill>
                <a:latin typeface="Segoe UI"/>
              </a:rPr>
              <a:t>Insights &amp; Limitations</a:t>
            </a:r>
          </a:p>
          <a:p>
            <a:pPr>
              <a:spcAft>
                <a:spcPts val="200"/>
              </a:spcAft>
            </a:pPr>
            <a:r>
              <a:rPr lang="en-US" altLang="zh-CN" sz="2400" dirty="0">
                <a:solidFill>
                  <a:srgbClr val="C9D1DB"/>
                </a:solidFill>
                <a:latin typeface="Segoe UI"/>
              </a:rPr>
              <a:t>What we learned — and what we cannot claim.</a:t>
            </a:r>
            <a:endParaRPr sz="2400" dirty="0">
              <a:solidFill>
                <a:srgbClr val="C9D1DB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559370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20624"/>
            <a:ext cx="384048" cy="6858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B7280"/>
                </a:solidFill>
                <a:latin typeface="Segoe UI"/>
              </a:rPr>
              <a:t>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131A"/>
                </a:solidFill>
                <a:latin typeface="Segoe UI"/>
              </a:rPr>
              <a:t>Key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11057839" cy="10515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822960" cy="1051560"/>
          </a:xfrm>
          <a:prstGeom prst="roundRect">
            <a:avLst>
              <a:gd name="adj" fmla="val 8000"/>
            </a:avLst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600200"/>
            <a:ext cx="8229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70632"/>
            <a:ext cx="11057839" cy="10515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6928" y="2770632"/>
            <a:ext cx="822960" cy="1051560"/>
          </a:xfrm>
          <a:prstGeom prst="roundRect">
            <a:avLst>
              <a:gd name="adj" fmla="val 8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2770632"/>
            <a:ext cx="8229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941064"/>
            <a:ext cx="11057839" cy="10515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3941064"/>
            <a:ext cx="822960" cy="1051560"/>
          </a:xfrm>
          <a:prstGeom prst="roundRect">
            <a:avLst>
              <a:gd name="adj" fmla="val 8000"/>
            </a:avLst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3941064"/>
            <a:ext cx="8229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11496"/>
            <a:ext cx="11057839" cy="10515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66928" y="5111496"/>
            <a:ext cx="822960" cy="1051560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5111496"/>
            <a:ext cx="8229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382512"/>
            <a:ext cx="11057839" cy="9525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6446520"/>
            <a:ext cx="105091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076127" y="6446520"/>
            <a:ext cx="548640" cy="153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dirty="0">
                <a:solidFill>
                  <a:srgbClr val="6B7280"/>
                </a:solidFill>
                <a:latin typeface="Segoe UI"/>
              </a:rPr>
              <a:t>1</a:t>
            </a:r>
            <a:r>
              <a:rPr lang="en-US" sz="950" b="1" i="0" dirty="0">
                <a:solidFill>
                  <a:srgbClr val="6B7280"/>
                </a:solidFill>
                <a:latin typeface="Segoe UI"/>
              </a:rPr>
              <a:t>1</a:t>
            </a:r>
            <a:endParaRPr sz="950" b="1" i="0" dirty="0">
              <a:solidFill>
                <a:srgbClr val="6B7280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20624"/>
            <a:ext cx="384048" cy="6858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dirty="0">
                <a:solidFill>
                  <a:srgbClr val="6B7280"/>
                </a:solidFill>
                <a:latin typeface="Segoe UI"/>
              </a:rPr>
              <a:t>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dirty="0">
                <a:solidFill>
                  <a:srgbClr val="10131A"/>
                </a:solidFill>
                <a:latin typeface="Segoe UI"/>
              </a:rPr>
              <a:t>Limitations &amp; Ethical Notes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11057839" cy="10058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600200"/>
            <a:ext cx="64008" cy="10058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66928" y="2715768"/>
            <a:ext cx="11057839" cy="10058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715768"/>
            <a:ext cx="64008" cy="10058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66928" y="3831336"/>
            <a:ext cx="11057839" cy="10058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3831336"/>
            <a:ext cx="64008" cy="10058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66928" y="4946904"/>
            <a:ext cx="11057839" cy="10058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4946904"/>
            <a:ext cx="64008" cy="10058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66928" y="6382512"/>
            <a:ext cx="11057839" cy="9525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6446520"/>
            <a:ext cx="105091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076127" y="6446520"/>
            <a:ext cx="548640" cy="153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dirty="0">
                <a:solidFill>
                  <a:srgbClr val="6B7280"/>
                </a:solidFill>
                <a:latin typeface="Segoe UI"/>
              </a:rPr>
              <a:t>1</a:t>
            </a:r>
            <a:r>
              <a:rPr lang="en-US" sz="950" b="1" i="0" dirty="0">
                <a:solidFill>
                  <a:srgbClr val="6B7280"/>
                </a:solidFill>
                <a:latin typeface="Segoe UI"/>
              </a:rPr>
              <a:t>2</a:t>
            </a:r>
            <a:endParaRPr sz="950" b="1" i="0" dirty="0">
              <a:solidFill>
                <a:srgbClr val="6B7280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C60D6-0F4C-E4AA-7313-9E8FED687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32C6C0-76D9-1EF6-FE9A-F41077A79A3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F5099CE-8ADA-E697-377F-AAF5E6EDF96E}"/>
              </a:ext>
            </a:extLst>
          </p:cNvPr>
          <p:cNvSpPr/>
          <p:nvPr/>
        </p:nvSpPr>
        <p:spPr>
          <a:xfrm>
            <a:off x="9692640" y="-1005840"/>
            <a:ext cx="4206240" cy="4206240"/>
          </a:xfrm>
          <a:prstGeom prst="ellipse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E52B0E1-3333-5116-51F4-F805EDFA3EF1}"/>
              </a:ext>
            </a:extLst>
          </p:cNvPr>
          <p:cNvSpPr/>
          <p:nvPr/>
        </p:nvSpPr>
        <p:spPr>
          <a:xfrm>
            <a:off x="10881360" y="3108960"/>
            <a:ext cx="2926080" cy="292608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8939B5D-5EBD-08EA-2666-05620FE2A02E}"/>
              </a:ext>
            </a:extLst>
          </p:cNvPr>
          <p:cNvSpPr/>
          <p:nvPr/>
        </p:nvSpPr>
        <p:spPr>
          <a:xfrm>
            <a:off x="8869680" y="5029200"/>
            <a:ext cx="1828800" cy="1828800"/>
          </a:xfrm>
          <a:prstGeom prst="ellipse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D8363C-2F22-12EB-D92F-8F45563C8B78}"/>
              </a:ext>
            </a:extLst>
          </p:cNvPr>
          <p:cNvSpPr/>
          <p:nvPr/>
        </p:nvSpPr>
        <p:spPr>
          <a:xfrm>
            <a:off x="0" y="0"/>
            <a:ext cx="8778240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565DF7-F116-E98A-DE1B-CF9CB28C82B0}"/>
              </a:ext>
            </a:extLst>
          </p:cNvPr>
          <p:cNvSpPr txBox="1"/>
          <p:nvPr/>
        </p:nvSpPr>
        <p:spPr>
          <a:xfrm>
            <a:off x="704088" y="1417320"/>
            <a:ext cx="7863840" cy="2481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lang="en-US" sz="1300" b="1" i="0" dirty="0">
                <a:solidFill>
                  <a:srgbClr val="1DB954"/>
                </a:solidFill>
                <a:latin typeface="Segoe UI"/>
              </a:rPr>
              <a:t> </a:t>
            </a:r>
            <a:endParaRPr sz="1300" b="1" i="0" dirty="0">
              <a:solidFill>
                <a:srgbClr val="1DB954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5200" b="1" i="0" dirty="0">
                <a:solidFill>
                  <a:srgbClr val="FFFFFF"/>
                </a:solidFill>
                <a:latin typeface="Segoe UI"/>
              </a:rPr>
              <a:t>Part5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5200" b="1" i="0" dirty="0">
                <a:solidFill>
                  <a:srgbClr val="FFFFFF"/>
                </a:solidFill>
                <a:latin typeface="Segoe UI"/>
              </a:rPr>
              <a:t>Conclusion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2400" dirty="0">
                <a:solidFill>
                  <a:srgbClr val="C9D1DB"/>
                </a:solidFill>
                <a:latin typeface="Segoe UI"/>
              </a:rPr>
              <a:t>Takeaways</a:t>
            </a:r>
            <a:endParaRPr sz="2400" dirty="0">
              <a:solidFill>
                <a:srgbClr val="C9D1DB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054412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20624"/>
            <a:ext cx="384048" cy="6858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B7280"/>
                </a:solidFill>
                <a:latin typeface="Segoe U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131A"/>
                </a:solidFill>
                <a:latin typeface="Segoe UI"/>
              </a:rPr>
              <a:t>Conclusion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46520"/>
            <a:ext cx="105091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076127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dirty="0">
                <a:solidFill>
                  <a:srgbClr val="6B7280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00FA9-6EDE-4355-E314-2C4112E5F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07318E-5D40-C702-D2E9-954E8D72A0A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452FF05-EB2A-C732-4823-FC9AB606B0AC}"/>
              </a:ext>
            </a:extLst>
          </p:cNvPr>
          <p:cNvSpPr/>
          <p:nvPr/>
        </p:nvSpPr>
        <p:spPr>
          <a:xfrm>
            <a:off x="9692640" y="-1005840"/>
            <a:ext cx="4206240" cy="4206240"/>
          </a:xfrm>
          <a:prstGeom prst="ellipse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F0B43C6-F9F8-E907-1CE3-A6195BBC365D}"/>
              </a:ext>
            </a:extLst>
          </p:cNvPr>
          <p:cNvSpPr/>
          <p:nvPr/>
        </p:nvSpPr>
        <p:spPr>
          <a:xfrm>
            <a:off x="10881360" y="3108960"/>
            <a:ext cx="2926080" cy="292608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05D17C4-E595-1272-D8D5-93AF33CD9C52}"/>
              </a:ext>
            </a:extLst>
          </p:cNvPr>
          <p:cNvSpPr/>
          <p:nvPr/>
        </p:nvSpPr>
        <p:spPr>
          <a:xfrm>
            <a:off x="8869680" y="5029200"/>
            <a:ext cx="1828800" cy="1828800"/>
          </a:xfrm>
          <a:prstGeom prst="ellipse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D6E0DA-ED93-135F-02A9-06F500EB2134}"/>
              </a:ext>
            </a:extLst>
          </p:cNvPr>
          <p:cNvSpPr/>
          <p:nvPr/>
        </p:nvSpPr>
        <p:spPr>
          <a:xfrm>
            <a:off x="0" y="0"/>
            <a:ext cx="8778240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B708F8-365A-4A45-214A-A439141560B0}"/>
              </a:ext>
            </a:extLst>
          </p:cNvPr>
          <p:cNvSpPr txBox="1"/>
          <p:nvPr/>
        </p:nvSpPr>
        <p:spPr>
          <a:xfrm>
            <a:off x="704088" y="1417320"/>
            <a:ext cx="7863840" cy="2481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lang="en-US" sz="1300" b="1" i="0" dirty="0">
                <a:solidFill>
                  <a:srgbClr val="1DB954"/>
                </a:solidFill>
                <a:latin typeface="Segoe UI"/>
              </a:rPr>
              <a:t> </a:t>
            </a:r>
            <a:endParaRPr sz="1300" b="1" i="0" dirty="0">
              <a:solidFill>
                <a:srgbClr val="1DB954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lang="en-US" sz="5200" b="1" i="0" dirty="0">
              <a:solidFill>
                <a:srgbClr val="FFFFFF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5200" b="1" dirty="0">
                <a:solidFill>
                  <a:srgbClr val="FFFFFF"/>
                </a:solidFill>
                <a:latin typeface="Segoe UI"/>
              </a:rPr>
              <a:t>Thank You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2400" dirty="0">
                <a:solidFill>
                  <a:srgbClr val="C9D1DB"/>
                </a:solidFill>
                <a:latin typeface="Segoe UI"/>
              </a:rPr>
              <a:t>Have a nice day with your music player</a:t>
            </a:r>
          </a:p>
        </p:txBody>
      </p:sp>
    </p:spTree>
    <p:extLst>
      <p:ext uri="{BB962C8B-B14F-4D97-AF65-F5344CB8AC3E}">
        <p14:creationId xmlns:p14="http://schemas.microsoft.com/office/powerpoint/2010/main" val="2038281740"/>
      </p:ext>
    </p:extLst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999232"/>
            <a:ext cx="384048" cy="64008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54680"/>
            <a:ext cx="110550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B954"/>
                </a:solidFill>
                <a:latin typeface="Segoe UI"/>
              </a:rPr>
              <a:t>Part 6  ·  New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474720"/>
            <a:ext cx="1105509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Segoe UI"/>
              </a:rPr>
              <a:t>Taste Drift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434840"/>
            <a:ext cx="11055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C9D1DB"/>
                </a:solidFill>
                <a:latin typeface="Segoe UI"/>
              </a:rPr>
              <a:t>CLAP vectors of 374 charted songs - two questions, three answers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384048" cy="6400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50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Segoe UI"/>
              </a:rPr>
              <a:t>TASTE MAP ·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50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0131A"/>
                </a:solidFill>
                <a:latin typeface="Segoe UI"/>
              </a:rPr>
              <a:t>What data we used, and how it became vectors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11055096" cy="9601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00200"/>
            <a:ext cx="603504" cy="96012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18488"/>
            <a:ext cx="603504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28216"/>
            <a:ext cx="9884664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0131A"/>
                </a:solidFill>
                <a:latin typeface="Segoe UI"/>
              </a:rPr>
              <a:t>Two charts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QQ Music monthly Top10, 730 entries (2018.8-2024.12)  +  NetEase Cloud Music annual song chart, 63 entries (2018-2024)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697480"/>
            <a:ext cx="11055096" cy="9601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697480"/>
            <a:ext cx="603504" cy="960120"/>
          </a:xfrm>
          <a:prstGeom prst="rect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715768"/>
            <a:ext cx="603504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825496"/>
            <a:ext cx="9884664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0131A"/>
                </a:solidFill>
                <a:latin typeface="Segoe UI"/>
              </a:rPr>
              <a:t>Matched to local audio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Normalized-title matching against local MP3s: QQ Music hit 429 entries / 319 songs (58.8%), NetEase 60 / 55 (95.2%)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94760"/>
            <a:ext cx="11055096" cy="9601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794760"/>
            <a:ext cx="603504" cy="96012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813048"/>
            <a:ext cx="603504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922776"/>
            <a:ext cx="9884664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0131A"/>
                </a:solidFill>
                <a:latin typeface="Segoe UI"/>
              </a:rPr>
              <a:t>Each song → a 512-dim vector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CLAP (laion/clap-htsat-unfused): 48 kHz mono → 10 s windows, 10 s hop → log-Mel spectrogram → HTS-AT encoder → window average → L2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892040"/>
            <a:ext cx="11055096" cy="9601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892040"/>
            <a:ext cx="603504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4910327"/>
            <a:ext cx="603504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020055"/>
            <a:ext cx="9884664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0131A"/>
                </a:solidFill>
                <a:latin typeface="Segoe UI"/>
              </a:rPr>
              <a:t>374 unique songs, one shared space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Every vector lives in the same 512-dim space, so platforms and years are directly comparable. GPU vectorization: 4.7 min, 0 failures.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73384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B7280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384048" cy="64008"/>
          </a:xfrm>
          <a:prstGeom prst="rect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50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Segoe UI"/>
              </a:rPr>
              <a:t>TASTE MAP ·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50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0131A"/>
                </a:solidFill>
                <a:latin typeface="Segoe UI"/>
              </a:rPr>
              <a:t>How a song becomes a vector · ① waveform &amp; windowing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89888"/>
            <a:ext cx="110550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6B7280"/>
                </a:solidFill>
                <a:latin typeface="Segoe UI"/>
              </a:rPr>
              <a:t>Sample song: Snow Distance - Capper / Luo Yan  (NetEase annual chart #1, 2023)</a:t>
            </a:r>
          </a:p>
        </p:txBody>
      </p:sp>
      <p:pic>
        <p:nvPicPr>
          <p:cNvPr id="6" name="Picture 5" descr="chain_1_wave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74519"/>
            <a:ext cx="11055096" cy="28488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257800"/>
            <a:ext cx="1105509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0131A"/>
                </a:solidFill>
                <a:latin typeface="Segoe UI"/>
              </a:rPr>
              <a:t>Why cut 10-second windows?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Segoe UI"/>
              </a:rPr>
              <a:t>CLAP's audio encoder only accepts fixed-length input (~10 s). A 166 s song is cut into 17 non-overlapping windows; each window is encoded separately and averaged - so every section of the song is seen, not just the chorus.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73384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B7280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384048" cy="64008"/>
          </a:xfrm>
          <a:prstGeom prst="rect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50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Segoe UI"/>
              </a:rPr>
              <a:t>TASTE MAP ·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50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0131A"/>
                </a:solidFill>
                <a:latin typeface="Segoe UI"/>
              </a:rPr>
              <a:t>How a song becomes a vector · ② waveform to spectrogram</a:t>
            </a:r>
          </a:p>
        </p:txBody>
      </p:sp>
      <p:pic>
        <p:nvPicPr>
          <p:cNvPr id="5" name="Picture 4" descr="chain_2_spect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63040"/>
            <a:ext cx="11055096" cy="38267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532120"/>
            <a:ext cx="1105509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0131A"/>
                </a:solidFill>
                <a:latin typeface="Segoe UI"/>
              </a:rPr>
              <a:t>The log-Mel spectrogram is the model's real input.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Segoe UI"/>
              </a:rPr>
              <a:t>It warps linear frequency onto a scale that mimics the human ear (low-freq dense, high-freq sparse) and takes the log of magnitudes - that is how ears hear. From here on the model never sees the waveform again.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73384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B7280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384048" cy="64008"/>
          </a:xfrm>
          <a:prstGeom prst="rect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50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Segoe UI"/>
              </a:rPr>
              <a:t>TASTE MAP ·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50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0131A"/>
                </a:solidFill>
                <a:latin typeface="Segoe UI"/>
              </a:rPr>
              <a:t>How a song becomes a vector · ③ encode &amp; pool</a:t>
            </a:r>
          </a:p>
        </p:txBody>
      </p:sp>
      <p:pic>
        <p:nvPicPr>
          <p:cNvPr id="5" name="Picture 4" descr="chain_3_v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44752"/>
            <a:ext cx="11055096" cy="41201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742432"/>
            <a:ext cx="110550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0131A"/>
                </a:solidFill>
                <a:latin typeface="Segoe UI"/>
              </a:rPr>
              <a:t>17 window vectors → average → L2 normalize → one song = one point in 512-dim space.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Segoe UI"/>
              </a:rPr>
              <a:t>Window-to-window cosine averages 0.887 - sections of the same song are genuinely similar, so averaging is safe.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73384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B7280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384048" cy="64008"/>
          </a:xfrm>
          <a:prstGeom prst="rect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50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Segoe UI"/>
              </a:rPr>
              <a:t>TASTE MAP ·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50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0131A"/>
                </a:solidFill>
                <a:latin typeface="Segoe UI"/>
              </a:rPr>
              <a:t>How a song becomes a vector · ④ similarity = angle</a:t>
            </a:r>
          </a:p>
        </p:txBody>
      </p:sp>
      <p:pic>
        <p:nvPicPr>
          <p:cNvPr id="5" name="Picture 4" descr="chain_4_simil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63040"/>
            <a:ext cx="11055096" cy="36949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349240"/>
            <a:ext cx="1105509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0131A"/>
                </a:solidFill>
                <a:latin typeface="Segoe UI"/>
              </a:rPr>
              <a:t>Cosine only measures direction, not length.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Segoe UI"/>
              </a:rPr>
              <a:t>Note the histogram: every library song sits at 0.7-0.9 (mean 0.830), not scattered around 0 - the “narrow cone effect” of contrastive audio models. It does not hurt ranking, but “similarity 0.85” never means “the same song”; only relative differences matter.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73384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B7280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384048" cy="64008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50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Segoe UI"/>
              </a:rPr>
              <a:t>TASTE MAP ·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50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0131A"/>
                </a:solidFill>
                <a:latin typeface="Segoe UI"/>
              </a:rPr>
              <a:t>The map: both platforms share one region</a:t>
            </a:r>
          </a:p>
        </p:txBody>
      </p:sp>
      <p:pic>
        <p:nvPicPr>
          <p:cNvPr id="5" name="Picture 4" descr="map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743" y="1481328"/>
            <a:ext cx="10271464" cy="4069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715000"/>
            <a:ext cx="110550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0131A"/>
                </a:solidFill>
                <a:latin typeface="Segoe UI"/>
              </a:rPr>
              <a:t>349 of 360 unique titles chart on one platform only,</a:t>
            </a:r>
            <a:r>
              <a:rPr sz="1350" b="1">
                <a:solidFill>
                  <a:srgbClr val="10131A"/>
                </a:solidFill>
                <a:latin typeface="Segoe UI"/>
              </a:rPr>
              <a:t> yet in vector space they all mix together - chart rosters differ, the style distribution of what gets picked does not.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73384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B7280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384048" cy="64008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50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Segoe UI"/>
              </a:rPr>
              <a:t>TASTE MAP · FINDING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50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0131A"/>
                </a:solidFill>
                <a:latin typeface="Segoe UI"/>
              </a:rPr>
              <a:t>Platform difference: averages identical, song mix different</a:t>
            </a:r>
          </a:p>
        </p:txBody>
      </p:sp>
      <p:pic>
        <p:nvPicPr>
          <p:cNvPr id="5" name="Picture 4" descr="map_plat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44752"/>
            <a:ext cx="11055096" cy="39968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623560"/>
            <a:ext cx="1105509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DB954"/>
                </a:solidFill>
                <a:latin typeface="Segoe UI"/>
              </a:rPr>
              <a:t>Q1 answer:  </a:t>
            </a:r>
            <a:r>
              <a:rPr sz="1150" b="0">
                <a:solidFill>
                  <a:srgbClr val="6B7280"/>
                </a:solidFill>
                <a:latin typeface="Segoe UI"/>
              </a:rPr>
              <a:t>average taste is indistinguishable (full-period centroid angle 3.93°, inside the bootstrap noise band), but single songs are separable (AUC 0.66, 95% CI [0.59, 0.73]). Same-year angles (7-9°) exceed the full-period angle: the difference comes from year composition, not platform style.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73384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B7280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384048" cy="64008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50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Segoe UI"/>
              </a:rPr>
              <a:t>TASTE MAP · FINDING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50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0131A"/>
                </a:solidFill>
                <a:latin typeface="Segoe UI"/>
              </a:rPr>
              <a:t>How taste changes: vibration in place, no one-way drift</a:t>
            </a:r>
          </a:p>
        </p:txBody>
      </p:sp>
      <p:pic>
        <p:nvPicPr>
          <p:cNvPr id="5" name="Picture 4" descr="map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10" y="1444752"/>
            <a:ext cx="10650931" cy="40965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669280"/>
            <a:ext cx="110550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FF6B6B"/>
                </a:solidFill>
                <a:latin typeface="Segoe UI"/>
              </a:rPr>
              <a:t>Q2 answer:  </a:t>
            </a:r>
            <a:r>
              <a:rPr sz="1150" b="0">
                <a:solidFill>
                  <a:srgbClr val="6B7280"/>
                </a:solidFill>
                <a:latin typeface="Segoe UI"/>
              </a:rPr>
              <a:t>total drift 2018→2023 is only 4.1° - smaller than a single year's swing (4.6°). Most year-over-year steps sit inside the bootstrap noise band (2.6-4.3°). NetEase 2018/19 jumps (21.6°/15.2°) are 2 songs compared to 2 songs - not interpretable.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73384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B7280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384048" cy="64008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50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Segoe UI"/>
              </a:rPr>
              <a:t>TASTE MAP ·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50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0131A"/>
                </a:solidFill>
                <a:latin typeface="Segoe UI"/>
              </a:rPr>
              <a:t>Monthly granularity: fluctuation is the norm, trend is absent</a:t>
            </a:r>
          </a:p>
        </p:txBody>
      </p:sp>
      <p:pic>
        <p:nvPicPr>
          <p:cNvPr id="5" name="Picture 4" descr="map_month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81328"/>
            <a:ext cx="11055096" cy="38692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852160"/>
            <a:ext cx="11055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0131A"/>
                </a:solidFill>
                <a:latin typeface="Segoe UI"/>
              </a:rPr>
              <a:t>Monthly centroids swing 8-23.5° against 2018-08, while yearly centroids (stars) hug the 10° line - the playlist keeps rotating, the mix of styles does not.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73384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B7280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384048" cy="6400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50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Segoe UI"/>
              </a:rPr>
              <a:t>TASTE MAP ·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50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0131A"/>
                </a:solidFill>
                <a:latin typeface="Segoe UI"/>
              </a:rPr>
              <a:t>What this analysis can and cannot answer</a:t>
            </a:r>
          </a:p>
        </p:txBody>
      </p:sp>
      <p:pic>
        <p:nvPicPr>
          <p:cNvPr id="5" name="Picture 4" descr="map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44752"/>
            <a:ext cx="11055096" cy="38692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577840"/>
            <a:ext cx="1105509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0131A"/>
                </a:solidFill>
                <a:latin typeface="Segoe UI"/>
              </a:rPr>
              <a:t>Three limitations we must state: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6B7280"/>
                </a:solidFill>
                <a:latin typeface="Segoe UI"/>
              </a:rPr>
              <a:t>① QQ 2024 H2 audio is missing locally (5/100 chart entries → 3 unique songs), so that year's 10.6° jump is sample collapse;  ② NetEase officially publishes only 1-2 songs for 2018/2019 - no yearly centroid possible;  ③ NetEase has no monthly chart, so monthly fluctuation can only be measured on QQ.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73384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B7280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384048" cy="64008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50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B7280"/>
                </a:solidFill>
                <a:latin typeface="Segoe UI"/>
              </a:rPr>
              <a:t>TASTE MAP ·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50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0131A"/>
                </a:solidFill>
                <a:latin typeface="Segoe UI"/>
              </a:rPr>
              <a:t>Three questions, three answers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1055096" cy="12344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822960" cy="123444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99616"/>
            <a:ext cx="82296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09344"/>
            <a:ext cx="9884664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0131A"/>
                </a:solidFill>
                <a:latin typeface="Segoe UI"/>
              </a:rPr>
              <a:t>Platform difference - averages identical, mixes different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Full-period centroid angle 3.93° (noise band 2.6-4.3°) → no real difference in average taste; per-song AUC 0.66 [0.59, 0.73] → which songs chart is systematically different; same-year angles 7-9° → difference comes from year composition, not platform style.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80360"/>
            <a:ext cx="11055096" cy="12344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880360"/>
            <a:ext cx="822960" cy="12344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898648"/>
            <a:ext cx="82296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008376"/>
            <a:ext cx="9884664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0131A"/>
                </a:solidFill>
                <a:latin typeface="Segoe UI"/>
              </a:rPr>
              <a:t>Taste change - vibration in place, no one-way migration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QQ Music 2018-2023 total drift 4.1° (smaller than one year's swing); monthly jumps 8-23.5°; NetEase 2020+ oscillates 7-10° yearly. Change happens in specific songs (rosters rotate almost completely), not in the average style.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279392"/>
            <a:ext cx="11055096" cy="12344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4279392"/>
            <a:ext cx="822960" cy="1234440"/>
          </a:xfrm>
          <a:prstGeom prst="rect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297679"/>
            <a:ext cx="82296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407407"/>
            <a:ext cx="9884664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0131A"/>
                </a:solidFill>
                <a:latin typeface="Segoe UI"/>
              </a:rPr>
              <a:t>Method - one song = one point on the 512-dim unit sphere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6B7280"/>
                </a:solidFill>
                <a:latin typeface="Segoe UI"/>
              </a:rPr>
              <a:t>10 s windows → log-Mel spectrogram → HTS-AT encoder → window average → L2 normalize. Similarity = cosine (angle). All 374 songs share one space, so platforms and years are directly comparable.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760720"/>
            <a:ext cx="11055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Segoe UI"/>
              </a:rPr>
              <a:t>Reproducible pipeline: swap in a new chart CSV + audio → export_for_r.py → R scripts (r_project/) regenerate every figure.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73384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B7280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202</Words>
  <Application>Microsoft Office PowerPoint</Application>
  <PresentationFormat>宽屏</PresentationFormat>
  <Paragraphs>76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等线</vt:lpstr>
      <vt:lpstr>等线 Light</vt:lpstr>
      <vt:lpstr>Arial</vt:lpstr>
      <vt:lpstr>Segoe UI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艺博 刘</dc:creator>
  <cp:lastModifiedBy>u3658970@connect.hku.hk</cp:lastModifiedBy>
  <cp:revision>5</cp:revision>
  <dcterms:created xsi:type="dcterms:W3CDTF">2026-10-05T15:23:34Z</dcterms:created>
  <dcterms:modified xsi:type="dcterms:W3CDTF">2026-10-06T06:52:34Z</dcterms:modified>
</cp:coreProperties>
</file>